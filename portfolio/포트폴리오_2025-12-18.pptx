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84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E2431-1A66-0F63-B50B-05B689610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676BA8-5CB3-DF8A-1E6C-3FF5EFB24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D91DAF-CA42-A538-7D48-6D89CA553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6F6B-3B35-4AA5-8575-C0D9890267C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4D9BA2-29C7-24AF-39CB-DF1557105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B03C71-9023-5B85-F234-BFCC4BD19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9104-8CB7-4C1B-A508-0F614284D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607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5AB00-9A04-8AF4-7B81-76C8F11A9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14F3A7-BBD8-1DE7-444D-F27D7A2BA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565FD3-4EB4-ACB8-2C42-29DFC9C0F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6F6B-3B35-4AA5-8575-C0D9890267C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7AC6D5-E1BC-4E02-D98D-7ADB85093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D49938-B17F-A91D-D788-215ABA2F7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9104-8CB7-4C1B-A508-0F614284D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62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0AA1D-BEF7-347E-074C-F10EE00B7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EDA6FD-5A55-E768-6237-CB8494F85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42ADA3-9189-11C4-5951-4DB487237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6F6B-3B35-4AA5-8575-C0D9890267C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31EF90-0F90-0220-E72A-DF6CC248D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89C52A-E757-1720-5BD0-8C78861B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9104-8CB7-4C1B-A508-0F614284D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850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15F03-D1A4-E3D9-A68A-BFF341C0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845C68-6299-1F33-9F3C-0A82E377C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F773FC-A88E-6C2D-A154-755D34DBA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6FBE18-741B-FA5A-AD13-DC841A51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6F6B-3B35-4AA5-8575-C0D9890267C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DFBFA4-82D0-FE8E-A5E7-C5544D14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E40984-210D-C953-5159-24BF5C62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9104-8CB7-4C1B-A508-0F614284D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033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5F0D21-6824-7DC1-4055-919543E62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D7FEC9-81B9-2F8E-92EC-3181438D9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A8C3A7-F9A8-1D70-838E-F8E052983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03BF49-2CDD-860E-990F-7971DD510E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3C4944-3B57-E8D2-81C8-182EEB3CDF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25D728B-A3AA-ED15-2AD5-0618DB6AE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6F6B-3B35-4AA5-8575-C0D9890267C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2D33F0-E5F5-1976-1F77-09FCC5D58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275ECD-2590-8A54-88B5-78EC57099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9104-8CB7-4C1B-A508-0F614284D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755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282AE-D0E0-EB12-5429-C36C632F5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B74299-B963-F26F-FB7B-49AAFF4C0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6F6B-3B35-4AA5-8575-C0D9890267C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18F8-F9F8-5967-FD7D-3AAB7294B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1150CC-EC9F-3EDC-9E85-67EBC25D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9104-8CB7-4C1B-A508-0F614284D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14ABEAD-DD9A-2124-7120-A9DD25AAA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6F6B-3B35-4AA5-8575-C0D9890267C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03AB55E-7781-38B2-B2B1-AC687AD21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B3260A-27EE-AFED-F294-5E685449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9104-8CB7-4C1B-A508-0F614284D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021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B1633-2790-F45D-3AF3-E4DE71E71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F3C87-4661-D2B3-DE87-17549AB0B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98E649-54FF-7D47-A3AD-CC4F04BDE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9B216C-3CC4-0652-66A2-1B3D6D0A2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6F6B-3B35-4AA5-8575-C0D9890267C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6C1781-DF36-14F1-DD33-8447B6115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614FA8-CD3E-7D52-786C-74A074E77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9104-8CB7-4C1B-A508-0F614284D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74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F935F-1F8D-44B8-A924-4CB2DC350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B06759E-C06E-EDBE-634C-701D1E1BC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A36CE3-B209-1D60-0C94-CCDC3C429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58F515-3FBE-F6B7-8E4D-FB40BA9E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6F6B-3B35-4AA5-8575-C0D9890267C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B9FB70-1B2B-A5E8-87EA-9ED301C07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924810-23F6-8E06-7169-A2F9B0071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9104-8CB7-4C1B-A508-0F614284D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597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B10B4-6F69-8644-4557-1598497C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6C1AA5-BA09-F753-A10E-BB2D81C3B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28CD47-A186-626D-DA45-2A92C19C4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6F6B-3B35-4AA5-8575-C0D9890267C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00F3F0-AC78-0194-9316-81867FEF2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B8C8F2-F2BD-D1B8-2BE0-E528573F3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9104-8CB7-4C1B-A508-0F614284D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93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19B1E6-6BC7-5072-E461-46D9283B82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A8CE5B-A9F9-C086-2583-E4A7844B5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E8EDCA-69FD-A776-0430-8322669D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6F6B-3B35-4AA5-8575-C0D9890267C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D5C733-52B7-0E0E-6DAB-1B49669C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A44986-8414-3D72-3976-A56F2525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9104-8CB7-4C1B-A508-0F614284D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097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836D0A-C113-3EF4-F108-724822A4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DAA74B-7E7F-910A-C03C-FE4917C4C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0329B7-4450-9CB9-C2E0-39837BD327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96F6B-3B35-4AA5-8575-C0D9890267C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C4245D-CBE6-6E79-9905-1FC63A8BF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FF40DA-32D1-D455-203F-688E01606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E9104-8CB7-4C1B-A508-0F614284D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76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tudysnap-mobile.netlify.app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tel:010-8665-8150" TargetMode="External"/><Relationship Id="rId2" Type="http://schemas.openxmlformats.org/officeDocument/2006/relationships/hyperlink" Target="mailto:jmyangkr@gmail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tudysnap-mobile.netlify.app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FAFA6-F951-D390-08F6-64C8EC873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33A11C-DED6-B148-6003-79DE0C5CE483}"/>
              </a:ext>
            </a:extLst>
          </p:cNvPr>
          <p:cNvSpPr txBox="1"/>
          <p:nvPr/>
        </p:nvSpPr>
        <p:spPr>
          <a:xfrm>
            <a:off x="3046912" y="909080"/>
            <a:ext cx="6093822" cy="5039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250"/>
              </a:spcAft>
              <a:buNone/>
            </a:pPr>
            <a:r>
              <a:rPr lang="en-US" altLang="ko-KR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2025 Digital Solutions Portfolio</a:t>
            </a:r>
          </a:p>
          <a:p>
            <a:pPr algn="ctr">
              <a:spcAft>
                <a:spcPts val="1500"/>
              </a:spcAft>
              <a:buNone/>
            </a:pPr>
            <a:r>
              <a:rPr lang="en-US" altLang="ko-KR" b="1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b="1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기반 문서 변환 </a:t>
            </a:r>
            <a:r>
              <a:rPr lang="en-US" altLang="ko-KR" b="1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&amp;</a:t>
            </a:r>
            <a:br>
              <a:rPr lang="en-US" altLang="ko-KR" b="1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b="1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통합 유통관리 솔루션</a:t>
            </a:r>
          </a:p>
          <a:p>
            <a:pPr algn="ctr">
              <a:spcAft>
                <a:spcPts val="3750"/>
              </a:spcAft>
              <a:buNone/>
            </a:pPr>
            <a:r>
              <a:rPr lang="en-US" altLang="ko-KR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PDF </a:t>
            </a:r>
            <a:r>
              <a:rPr lang="ko-KR" altLang="en-US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자동 변환 </a:t>
            </a:r>
            <a:r>
              <a:rPr lang="en-US" altLang="ko-KR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다국어 학습 </a:t>
            </a:r>
            <a:r>
              <a:rPr lang="en-US" altLang="ko-KR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· B2B2C </a:t>
            </a:r>
            <a:r>
              <a:rPr lang="ko-KR" altLang="en-US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커머스</a:t>
            </a:r>
          </a:p>
          <a:p>
            <a:pPr algn="ctr">
              <a:spcAft>
                <a:spcPts val="3750"/>
              </a:spcAft>
              <a:buNone/>
            </a:pPr>
            <a:r>
              <a:rPr lang="ko-KR" altLang="en-US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📱</a:t>
            </a:r>
            <a:r>
              <a:rPr lang="en-US" altLang="ko-KR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PDF </a:t>
            </a:r>
            <a:r>
              <a:rPr lang="ko-KR" altLang="en-US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모바일 최적화</a:t>
            </a:r>
          </a:p>
          <a:p>
            <a:pPr algn="ctr">
              <a:spcAft>
                <a:spcPts val="3750"/>
              </a:spcAft>
              <a:buNone/>
            </a:pPr>
            <a:r>
              <a:rPr lang="ko-KR" altLang="en-US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🌍</a:t>
            </a:r>
            <a:r>
              <a:rPr lang="ko-KR" altLang="en-US" b="0" i="0" dirty="0" err="1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특수직군</a:t>
            </a:r>
            <a:r>
              <a:rPr lang="ko-KR" altLang="en-US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외국어 학습</a:t>
            </a:r>
          </a:p>
          <a:p>
            <a:pPr algn="ctr">
              <a:spcAft>
                <a:spcPts val="3750"/>
              </a:spcAft>
              <a:buNone/>
            </a:pPr>
            <a:r>
              <a:rPr lang="ko-KR" altLang="en-US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🛒통합 유통관리</a:t>
            </a:r>
          </a:p>
          <a:p>
            <a:pPr algn="ctr">
              <a:spcBef>
                <a:spcPts val="2250"/>
              </a:spcBef>
              <a:buNone/>
            </a:pPr>
            <a:r>
              <a:rPr lang="en-US" altLang="ko-KR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jmyangkr@gmail.com | 010-8665-8150</a:t>
            </a:r>
          </a:p>
        </p:txBody>
      </p:sp>
    </p:spTree>
    <p:extLst>
      <p:ext uri="{BB962C8B-B14F-4D97-AF65-F5344CB8AC3E}">
        <p14:creationId xmlns:p14="http://schemas.microsoft.com/office/powerpoint/2010/main" val="337553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9C03CA-B596-B3A6-6047-DCC31230662D}"/>
              </a:ext>
            </a:extLst>
          </p:cNvPr>
          <p:cNvSpPr txBox="1"/>
          <p:nvPr/>
        </p:nvSpPr>
        <p:spPr>
          <a:xfrm>
            <a:off x="4354" y="-8999"/>
            <a:ext cx="12187646" cy="586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솔루션 포트폴리오</a:t>
            </a:r>
          </a:p>
          <a:p>
            <a:pPr algn="ctr">
              <a:spcAft>
                <a:spcPts val="3750"/>
              </a:spcAft>
              <a:buNone/>
            </a:pP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 핵심 솔루션 소개</a:t>
            </a:r>
          </a:p>
          <a:p>
            <a:pPr algn="l">
              <a:spcAft>
                <a:spcPts val="1500"/>
              </a:spcAft>
              <a:buNone/>
            </a:pPr>
            <a:r>
              <a:rPr lang="en-US" altLang="ko-KR" b="1" i="0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</a:p>
          <a:p>
            <a:pPr algn="l">
              <a:spcAft>
                <a:spcPts val="750"/>
              </a:spcAft>
              <a:buNone/>
            </a:pPr>
            <a:r>
              <a:rPr lang="en-US" altLang="ko-KR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PDF </a:t>
            </a: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문서 모바일 </a:t>
            </a:r>
            <a:r>
              <a:rPr lang="en-US" altLang="ko-KR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HTML </a:t>
            </a: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</a:p>
          <a:p>
            <a:pPr algn="l"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교회 주보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선거 </a:t>
            </a:r>
            <a:r>
              <a:rPr lang="ko-KR" altLang="en-US" b="0" i="0" dirty="0" err="1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공보물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공공기관 소식지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강의자료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전공 서적을 모바일에 최적화된 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HTML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로 자동 변환</a:t>
            </a:r>
          </a:p>
          <a:p>
            <a:pPr algn="l">
              <a:spcBef>
                <a:spcPts val="1125"/>
              </a:spcBef>
              <a:buNone/>
            </a:pPr>
            <a:r>
              <a:rPr lang="en-US" altLang="ko-KR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OCR8</a:t>
            </a: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개국어반응형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spcAft>
                <a:spcPts val="1500"/>
              </a:spcAft>
              <a:buNone/>
            </a:pPr>
            <a:r>
              <a:rPr lang="en-US" altLang="ko-KR" b="1" i="0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</a:p>
          <a:p>
            <a:pPr algn="l">
              <a:spcAft>
                <a:spcPts val="750"/>
              </a:spcAft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특수 </a:t>
            </a:r>
            <a:r>
              <a:rPr lang="ko-KR" altLang="en-US" b="1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직업군</a:t>
            </a: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외국어 </a:t>
            </a:r>
            <a:r>
              <a:rPr lang="ko-KR" altLang="en-US" b="1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학습기</a:t>
            </a:r>
            <a:endParaRPr lang="ko-KR" altLang="en-US" b="1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치과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한방병원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호텔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레스토랑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병원 간호사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면세점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미용실 등 </a:t>
            </a:r>
            <a:r>
              <a:rPr lang="ko-KR" altLang="en-US" b="0" i="0" dirty="0" err="1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직군별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맞춤 다국어 학습 솔루션</a:t>
            </a:r>
          </a:p>
          <a:p>
            <a:pPr algn="l">
              <a:spcBef>
                <a:spcPts val="1125"/>
              </a:spcBef>
              <a:buNone/>
            </a:pPr>
            <a:r>
              <a:rPr lang="en-US" altLang="ko-KR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 </a:t>
            </a:r>
            <a:r>
              <a:rPr lang="ko-KR" altLang="en-US" b="0" i="0" dirty="0" err="1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직군실무</a:t>
            </a: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b="0" i="0" dirty="0" err="1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표현음성</a:t>
            </a: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지원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spcAft>
                <a:spcPts val="1500"/>
              </a:spcAft>
              <a:buNone/>
            </a:pPr>
            <a:r>
              <a:rPr lang="en-US" altLang="ko-KR" b="1" i="0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</a:p>
          <a:p>
            <a:pPr algn="l">
              <a:spcAft>
                <a:spcPts val="750"/>
              </a:spcAft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통합 유통관리 시스템</a:t>
            </a:r>
          </a:p>
          <a:p>
            <a:pPr algn="l"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도매점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소매점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소비자 연계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온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오프라인 통합 신개념 유통환경 최적화 시스템</a:t>
            </a:r>
          </a:p>
          <a:p>
            <a:pPr algn="l">
              <a:spcBef>
                <a:spcPts val="1125"/>
              </a:spcBef>
              <a:buNone/>
            </a:pPr>
            <a:r>
              <a:rPr lang="en-US" altLang="ko-KR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B2B2C</a:t>
            </a: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 연동자동 정산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3869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D8AB0-0D59-23DB-95F6-90724068D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98D7E8-9177-0C06-29A0-6F630B4690A6}"/>
              </a:ext>
            </a:extLst>
          </p:cNvPr>
          <p:cNvSpPr txBox="1"/>
          <p:nvPr/>
        </p:nvSpPr>
        <p:spPr>
          <a:xfrm>
            <a:off x="-4354" y="-2232806"/>
            <a:ext cx="12196354" cy="11323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📱</a:t>
            </a:r>
          </a:p>
          <a:p>
            <a:pPr algn="l">
              <a:spcAft>
                <a:spcPts val="3000"/>
              </a:spcAft>
              <a:buNone/>
            </a:pPr>
            <a:r>
              <a:rPr lang="en-US" altLang="ko-KR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PDF </a:t>
            </a: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문서 모바일 </a:t>
            </a:r>
            <a:r>
              <a:rPr lang="en-US" altLang="ko-KR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HTML </a:t>
            </a: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변환</a:t>
            </a:r>
          </a:p>
          <a:p>
            <a:pPr algn="l">
              <a:spcAft>
                <a:spcPts val="3000"/>
              </a:spcAft>
              <a:buNone/>
            </a:pP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기반 자동 레이아웃 분석 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&amp;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반응형 변환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🎯 핵심 가치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A4 PDF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를 모바일 최적화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HTML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로 자동 변환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Claude Vision AI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기반 레이아웃 분석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카테고리별 맞춤 템플릿 자동 적용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다크모드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폰트 조절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공유 기능 내장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📊 지원 문서 유형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교회 주보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- 8</a:t>
            </a: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개국어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번역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성경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찬송 팝업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선거 </a:t>
            </a:r>
            <a:r>
              <a:rPr lang="ko-KR" altLang="en-US" b="1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공보물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후보자 정보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공약 구조화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공공기관 소식지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뉴스레터 디지털화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강의자료</a:t>
            </a:r>
            <a:r>
              <a:rPr lang="en-US" altLang="ko-KR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전공서적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학습 콘텐츠 최적화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⚙️ 변환 프로세스</a:t>
            </a:r>
          </a:p>
          <a:p>
            <a:pPr algn="ctr">
              <a:spcAft>
                <a:spcPts val="75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📄</a:t>
            </a:r>
          </a:p>
          <a:p>
            <a:pPr algn="ctr">
              <a:buNone/>
            </a:pPr>
            <a:r>
              <a:rPr lang="en-US" altLang="ko-KR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PDF </a:t>
            </a: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업로드</a:t>
            </a:r>
          </a:p>
          <a:p>
            <a:pPr algn="ctr"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원본 문서</a:t>
            </a:r>
          </a:p>
          <a:p>
            <a:pPr algn="l">
              <a:buNone/>
            </a:pP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75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🤖</a:t>
            </a:r>
          </a:p>
          <a:p>
            <a:pPr algn="ctr">
              <a:buNone/>
            </a:pPr>
            <a:r>
              <a:rPr lang="en-US" altLang="ko-KR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분석</a:t>
            </a:r>
          </a:p>
          <a:p>
            <a:pPr algn="ctr">
              <a:buNone/>
            </a:pP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Vision OCR</a:t>
            </a:r>
          </a:p>
          <a:p>
            <a:pPr algn="l">
              <a:buNone/>
            </a:pP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75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🌍</a:t>
            </a:r>
          </a:p>
          <a:p>
            <a:pPr algn="ctr"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다국어 번역</a:t>
            </a:r>
          </a:p>
          <a:p>
            <a:pPr algn="ctr">
              <a:buNone/>
            </a:pP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 언어</a:t>
            </a:r>
          </a:p>
          <a:p>
            <a:pPr algn="l">
              <a:buNone/>
            </a:pP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75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🎨</a:t>
            </a:r>
          </a:p>
          <a:p>
            <a:pPr algn="ctr"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템플릿 적용</a:t>
            </a:r>
          </a:p>
          <a:p>
            <a:pPr algn="ctr"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카테고리별</a:t>
            </a:r>
          </a:p>
          <a:p>
            <a:pPr algn="l">
              <a:buNone/>
            </a:pP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75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📱</a:t>
            </a:r>
          </a:p>
          <a:p>
            <a:pPr algn="ctr">
              <a:buNone/>
            </a:pPr>
            <a:r>
              <a:rPr lang="en-US" altLang="ko-KR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HTML </a:t>
            </a: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생성</a:t>
            </a:r>
          </a:p>
          <a:p>
            <a:pPr algn="ctr"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모바일 최적화</a:t>
            </a:r>
          </a:p>
        </p:txBody>
      </p:sp>
    </p:spTree>
    <p:extLst>
      <p:ext uri="{BB962C8B-B14F-4D97-AF65-F5344CB8AC3E}">
        <p14:creationId xmlns:p14="http://schemas.microsoft.com/office/powerpoint/2010/main" val="3442435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1130C-A1CD-63B4-96C5-CA69E0A22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B0B10F-14F3-EEDA-7819-F70627DA33AC}"/>
              </a:ext>
            </a:extLst>
          </p:cNvPr>
          <p:cNvSpPr txBox="1"/>
          <p:nvPr/>
        </p:nvSpPr>
        <p:spPr>
          <a:xfrm>
            <a:off x="-4354" y="-800363"/>
            <a:ext cx="12196354" cy="8458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⛪</a:t>
            </a:r>
          </a:p>
          <a:p>
            <a:pPr algn="l">
              <a:spcAft>
                <a:spcPts val="3000"/>
              </a:spcAft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교회 주보 변환 시스템</a:t>
            </a:r>
          </a:p>
          <a:p>
            <a:pPr algn="l">
              <a:spcAft>
                <a:spcPts val="3000"/>
              </a:spcAft>
              <a:buNone/>
            </a:pP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r>
              <a:rPr lang="ko-KR" altLang="en-US" b="0" i="0" dirty="0" err="1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개국어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자동 번역 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성경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찬송 연동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🌍 다국어 지원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한국어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원본 텍스트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영어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English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중국어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简体中文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일본어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日本語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인도네시아어</a:t>
            </a:r>
            <a:r>
              <a:rPr lang="en-US" altLang="ko-KR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스페인어</a:t>
            </a:r>
            <a:r>
              <a:rPr lang="en-US" altLang="ko-KR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러시아어</a:t>
            </a:r>
            <a:r>
              <a:rPr lang="en-US" altLang="ko-KR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프랑스어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📖 인터랙티브 기능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성경 구절 클릭 → 다국어 본문 팝업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찬송가 번호 클릭 → 다국어 가사 팝업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설교 본문 전체 번역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오늘의 양식 다국어 지원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📱 주보 섹션 구조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오늘의 말씀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컴팩트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아코디언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예배 안내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공통순서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개별 카드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생명의 말씀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설교 아코디언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금주의 찬양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교회소식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헌금 안내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🛠️ 기술 스택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Python Flask + Claude Vision API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PyMuPDF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(PDF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처리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다국어 </a:t>
            </a: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폴백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선택어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→ 영어 → 한국어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반응형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CSS + </a:t>
            </a: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다크모드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9277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FF809-B049-28A0-597D-72B5BBB0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72F862-B21D-E84B-4895-8DC576C97AAD}"/>
              </a:ext>
            </a:extLst>
          </p:cNvPr>
          <p:cNvSpPr txBox="1"/>
          <p:nvPr/>
        </p:nvSpPr>
        <p:spPr>
          <a:xfrm>
            <a:off x="3046912" y="-661863"/>
            <a:ext cx="6093822" cy="8181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📄</a:t>
            </a:r>
          </a:p>
          <a:p>
            <a:pPr algn="l">
              <a:spcAft>
                <a:spcPts val="3000"/>
              </a:spcAft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다양한 문서 유형 지원</a:t>
            </a:r>
          </a:p>
          <a:p>
            <a:pPr algn="l">
              <a:spcAft>
                <a:spcPts val="3000"/>
              </a:spcAft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선거 </a:t>
            </a:r>
            <a:r>
              <a:rPr lang="ko-KR" altLang="en-US" b="0" i="0" dirty="0" err="1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공보물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공공기관 소식지 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강의자료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🗳️ 선거 </a:t>
            </a:r>
            <a:r>
              <a:rPr lang="ko-KR" altLang="en-US" b="1" i="0" dirty="0" err="1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공보물</a:t>
            </a:r>
            <a:endParaRPr lang="ko-KR" altLang="en-US" b="1" i="0" dirty="0">
              <a:solidFill>
                <a:srgbClr val="2563EB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후보자 정보 자동 추출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공약 구조화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카드 형태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정당별 테마 색상 적용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비교 보기 기능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🏛️ 공공기관 소식지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뉴스 카테고리별 분류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이미지 갤러리 자동 생성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연락처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일정 카드화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SNS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공유 기능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📚 강의자료 </a:t>
            </a:r>
            <a:r>
              <a:rPr lang="en-US" altLang="ko-KR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전공서적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챕터별 네비게이션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수식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도표 렌더링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하이라이트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&amp;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메모 기능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목차 자동 생성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💡 공통 기능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반응형 디자인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모바일 우선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다크모드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폰트 크기 조절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오프라인 저장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(PWA)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URL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공유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&amp; QR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코드</a:t>
            </a:r>
          </a:p>
        </p:txBody>
      </p:sp>
    </p:spTree>
    <p:extLst>
      <p:ext uri="{BB962C8B-B14F-4D97-AF65-F5344CB8AC3E}">
        <p14:creationId xmlns:p14="http://schemas.microsoft.com/office/powerpoint/2010/main" val="2570961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3AEE2-BFC7-C508-A3FD-EBC8672B4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AFA1D0-124A-5BA0-2880-C3DD7A895558}"/>
              </a:ext>
            </a:extLst>
          </p:cNvPr>
          <p:cNvSpPr txBox="1"/>
          <p:nvPr/>
        </p:nvSpPr>
        <p:spPr>
          <a:xfrm>
            <a:off x="3046912" y="-2786804"/>
            <a:ext cx="6093822" cy="1243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🌍</a:t>
            </a:r>
          </a:p>
          <a:p>
            <a:pPr algn="l">
              <a:spcAft>
                <a:spcPts val="3000"/>
              </a:spcAft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특수 </a:t>
            </a:r>
            <a:r>
              <a:rPr lang="ko-KR" altLang="en-US" b="1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직업군</a:t>
            </a: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외국어 </a:t>
            </a:r>
            <a:r>
              <a:rPr lang="ko-KR" altLang="en-US" b="1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학습기</a:t>
            </a:r>
            <a:endParaRPr lang="ko-KR" altLang="en-US" b="1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spcAft>
                <a:spcPts val="3000"/>
              </a:spcAft>
              <a:buNone/>
            </a:pPr>
            <a:r>
              <a:rPr lang="ko-KR" altLang="en-US" b="0" i="0" dirty="0" err="1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직군별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실무 표현 집중 학습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🎯 솔루션 특징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직업군별 맞춤 커리큘럼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실무에서 바로 쓰는 표현 중심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다국어 지원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영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중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일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동남아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음성 발음 가이드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상황별 롤플레이 시나리오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👥 지원 </a:t>
            </a:r>
            <a:r>
              <a:rPr lang="ko-KR" altLang="en-US" b="1" i="0" dirty="0" err="1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직업군</a:t>
            </a: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(7</a:t>
            </a: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r>
              <a:rPr lang="en-US" altLang="ko-KR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🦷 치과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진료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치료 안내 표현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🌿 한방병원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한의학 용어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침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뜸 설명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🏨 호텔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체크인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컨시어지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서비스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🍽️ 레스토랑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주문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서빙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결제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🏥 병원 간호사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환자 응대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의료 용어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🛍️ 면세점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상품 안내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세금 환급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💇 미용실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스타일 상담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시술 설명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📱 학습 흐름</a:t>
            </a:r>
          </a:p>
          <a:p>
            <a:pPr algn="ctr">
              <a:spcAft>
                <a:spcPts val="75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👤</a:t>
            </a:r>
          </a:p>
          <a:p>
            <a:pPr algn="ctr"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직군 선택</a:t>
            </a:r>
          </a:p>
          <a:p>
            <a:pPr algn="ctr">
              <a:buNone/>
            </a:pP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 </a:t>
            </a:r>
            <a:r>
              <a:rPr lang="ko-KR" altLang="en-US" b="0" i="0" dirty="0" err="1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직업군</a:t>
            </a:r>
            <a:endParaRPr lang="ko-KR" altLang="en-US" b="0" i="0" dirty="0">
              <a:solidFill>
                <a:srgbClr val="6B728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buNone/>
            </a:pP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75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📚</a:t>
            </a:r>
          </a:p>
          <a:p>
            <a:pPr algn="ctr"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상황별 학습</a:t>
            </a:r>
          </a:p>
          <a:p>
            <a:pPr algn="ctr"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실무 시나리오</a:t>
            </a:r>
          </a:p>
          <a:p>
            <a:pPr algn="l">
              <a:buNone/>
            </a:pP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75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🔊</a:t>
            </a:r>
          </a:p>
          <a:p>
            <a:pPr algn="ctr"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발음 연습</a:t>
            </a:r>
          </a:p>
          <a:p>
            <a:pPr algn="ctr"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음성 가이드</a:t>
            </a:r>
          </a:p>
          <a:p>
            <a:pPr algn="l">
              <a:buNone/>
            </a:pP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75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🎭</a:t>
            </a:r>
          </a:p>
          <a:p>
            <a:pPr algn="ctr"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롤플레이</a:t>
            </a:r>
          </a:p>
          <a:p>
            <a:pPr algn="ctr"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대화 실습</a:t>
            </a:r>
          </a:p>
          <a:p>
            <a:pPr algn="l">
              <a:buNone/>
            </a:pP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75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📊</a:t>
            </a:r>
          </a:p>
          <a:p>
            <a:pPr algn="ctr"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학습 현황</a:t>
            </a:r>
          </a:p>
          <a:p>
            <a:pPr algn="ctr"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진도 관리</a:t>
            </a:r>
          </a:p>
        </p:txBody>
      </p:sp>
    </p:spTree>
    <p:extLst>
      <p:ext uri="{BB962C8B-B14F-4D97-AF65-F5344CB8AC3E}">
        <p14:creationId xmlns:p14="http://schemas.microsoft.com/office/powerpoint/2010/main" val="2910395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00341-E016-1A70-921B-A03C91C64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7CF71A-939E-8C94-2F1A-A2D175ABC154}"/>
              </a:ext>
            </a:extLst>
          </p:cNvPr>
          <p:cNvSpPr txBox="1"/>
          <p:nvPr/>
        </p:nvSpPr>
        <p:spPr>
          <a:xfrm>
            <a:off x="3046912" y="-661863"/>
            <a:ext cx="6093822" cy="8181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📖</a:t>
            </a:r>
          </a:p>
          <a:p>
            <a:pPr algn="l">
              <a:spcAft>
                <a:spcPts val="3000"/>
              </a:spcAft>
              <a:buNone/>
            </a:pPr>
            <a:r>
              <a:rPr lang="ko-KR" altLang="en-US" b="1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직군별</a:t>
            </a: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학습 콘텐츠 예시</a:t>
            </a:r>
          </a:p>
          <a:p>
            <a:pPr algn="l">
              <a:spcAft>
                <a:spcPts val="3000"/>
              </a:spcAft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실무 상황 기반 다국어 표현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🦷 치과 </a:t>
            </a:r>
            <a:r>
              <a:rPr lang="en-US" altLang="ko-KR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진료 안내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오늘 어디가 불편하세요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스케일링을 받으신 적 있으세요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마취가 풀릴 때까지 식사를 피해주세요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"3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개월 후 정기 검진을 </a:t>
            </a: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권장드립니다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🏨 호텔 </a:t>
            </a:r>
            <a:r>
              <a:rPr lang="en-US" altLang="ko-KR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체크인</a:t>
            </a:r>
            <a:r>
              <a:rPr lang="en-US" altLang="ko-KR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서비스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예약 확인 도와드리겠습니다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조식은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시부터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시까지입니다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"Wi-Fi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비밀번호를 안내해 </a:t>
            </a: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드릴게요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체크아웃은 오전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시입니다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🛍️ 면세점 </a:t>
            </a:r>
            <a:r>
              <a:rPr lang="en-US" altLang="ko-KR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쇼핑 안내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여권을 </a:t>
            </a: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보여주시겠어요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면세 한도는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$800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입니다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택스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리펀드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받으실 수 있습니다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포장해 드릴까요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?"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🏥 병원 간호사 </a:t>
            </a:r>
            <a:r>
              <a:rPr lang="en-US" altLang="ko-KR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환자 응대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알레르기가 </a:t>
            </a: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있으신가요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혈압을 측정하겠습니다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주사 맞으실 때 따끔할 수 있어요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처방전은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층 약국에서 받으세요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16656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C9BB5-274F-2C8F-1CC2-EE13BA030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9F0E22A-7D21-80A2-5CE0-80B6F277F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90128"/>
              </p:ext>
            </p:extLst>
          </p:nvPr>
        </p:nvGraphicFramePr>
        <p:xfrm>
          <a:off x="2" y="4343400"/>
          <a:ext cx="12192000" cy="25146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362149819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962489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1381309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904921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b="1">
                          <a:solidFill>
                            <a:srgbClr val="FFFFFF"/>
                          </a:solidFill>
                          <a:effectLst/>
                        </a:rPr>
                        <a:t>변환기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b="1">
                          <a:solidFill>
                            <a:srgbClr val="FFFFFF"/>
                          </a:solidFill>
                          <a:effectLst/>
                        </a:rPr>
                        <a:t>입력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b="1">
                          <a:solidFill>
                            <a:srgbClr val="FFFFFF"/>
                          </a:solidFill>
                          <a:effectLst/>
                        </a:rPr>
                        <a:t>출력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b="1" dirty="0">
                          <a:solidFill>
                            <a:srgbClr val="FFFFFF"/>
                          </a:solidFill>
                          <a:effectLst/>
                        </a:rPr>
                        <a:t>특징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14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교회 주보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PDF (6</a:t>
                      </a:r>
                      <a:r>
                        <a:rPr lang="ko-KR" altLang="en-US">
                          <a:effectLst/>
                        </a:rPr>
                        <a:t>페이지</a:t>
                      </a:r>
                      <a:r>
                        <a:rPr lang="en-US" altLang="ko-KR">
                          <a:effectLst/>
                        </a:rPr>
                        <a:t>)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dirty="0">
                          <a:effectLst/>
                        </a:rPr>
                        <a:t>반응형 </a:t>
                      </a:r>
                      <a:r>
                        <a:rPr lang="en-US" dirty="0">
                          <a:effectLst/>
                        </a:rPr>
                        <a:t>HTML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>
                          <a:effectLst/>
                        </a:rPr>
                        <a:t>8</a:t>
                      </a:r>
                      <a:r>
                        <a:rPr lang="ko-KR" altLang="en-US">
                          <a:effectLst/>
                        </a:rPr>
                        <a:t>개국어</a:t>
                      </a:r>
                      <a:r>
                        <a:rPr lang="en-US" altLang="ko-KR">
                          <a:effectLst/>
                        </a:rPr>
                        <a:t>, </a:t>
                      </a:r>
                      <a:r>
                        <a:rPr lang="ko-KR" altLang="en-US">
                          <a:effectLst/>
                        </a:rPr>
                        <a:t>성경</a:t>
                      </a:r>
                      <a:r>
                        <a:rPr lang="en-US" altLang="ko-KR">
                          <a:effectLst/>
                        </a:rPr>
                        <a:t>/</a:t>
                      </a:r>
                      <a:r>
                        <a:rPr lang="ko-KR" altLang="en-US">
                          <a:effectLst/>
                        </a:rPr>
                        <a:t>찬송 연동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418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선거 공보물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PDF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후보자 카드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공약 구조화</a:t>
                      </a:r>
                      <a:r>
                        <a:rPr lang="en-US" altLang="ko-KR">
                          <a:effectLst/>
                        </a:rPr>
                        <a:t>, </a:t>
                      </a:r>
                      <a:r>
                        <a:rPr lang="ko-KR" altLang="en-US">
                          <a:effectLst/>
                        </a:rPr>
                        <a:t>정당 테마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939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강의자료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PDF/PPT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학습 모듈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챕터 네비게이션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333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외국어 학습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커리큘럼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dirty="0">
                          <a:effectLst/>
                        </a:rPr>
                        <a:t>인터랙티브 학습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dirty="0">
                          <a:effectLst/>
                        </a:rPr>
                        <a:t>7</a:t>
                      </a:r>
                      <a:r>
                        <a:rPr lang="ko-KR" altLang="en-US" dirty="0">
                          <a:effectLst/>
                        </a:rPr>
                        <a:t>개 직군</a:t>
                      </a:r>
                      <a:r>
                        <a:rPr lang="en-US" altLang="ko-KR" dirty="0">
                          <a:effectLst/>
                        </a:rPr>
                        <a:t>, </a:t>
                      </a:r>
                      <a:r>
                        <a:rPr lang="ko-KR" altLang="en-US" dirty="0">
                          <a:effectLst/>
                        </a:rPr>
                        <a:t>음성 지원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58889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A565C09-A147-C9B7-A4B7-D124A5BB2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-209026"/>
            <a:ext cx="3650038" cy="50821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952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🔗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라이브 데모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실제 서비스 체험하기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rgbClr val="2563EB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📱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StudySnap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Mobile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rgbClr val="2563EB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PDF 변환 + 외국어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학습기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통합 데모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hlinkClick r:id="rId2"/>
              </a:rPr>
              <a:t>studysnap-mobile.netlify.app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hlinkClick r:id="rId2"/>
              </a:rPr>
              <a:t> ↗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rgbClr val="2563EB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🖥️ 데모 체험 내용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교회 주보 PDF 변환 체험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8개국어 언어 전환 테스트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성경/찬송 팝업 기능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다크모드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&amp; 반응형 확인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직업군별 외국어 학습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rgbClr val="2563EB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📋 지원 변환기 목록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3388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EBB04-3070-319A-49FC-2F485BFFF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505BE5-7491-A949-8CE8-42CB53622742}"/>
              </a:ext>
            </a:extLst>
          </p:cNvPr>
          <p:cNvSpPr txBox="1"/>
          <p:nvPr/>
        </p:nvSpPr>
        <p:spPr>
          <a:xfrm>
            <a:off x="3049121" y="-2094307"/>
            <a:ext cx="6098240" cy="110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🛒</a:t>
            </a:r>
          </a:p>
          <a:p>
            <a:pPr algn="l">
              <a:spcAft>
                <a:spcPts val="3000"/>
              </a:spcAft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통합 유통관리 시스템 </a:t>
            </a:r>
            <a:r>
              <a:rPr lang="en-US" altLang="ko-KR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(K-MART)</a:t>
            </a:r>
          </a:p>
          <a:p>
            <a:pPr algn="l">
              <a:spcAft>
                <a:spcPts val="3000"/>
              </a:spcAft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도매점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소매점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소비자 연계 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B2B2C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플랫폼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🎯 솔루션 개요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온라인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오프라인 통합 유통환경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도매점 → 소매점 → 소비자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단계 연계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카카오톡 기반 모바일 주문 시스템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실시간 재고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정산 통합 관리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👥 사용자 계층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도매점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상품 등록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소매점 관리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통합 정산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소매점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독립 재고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가격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자체 마진 설정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소비자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카카오톡 간편 주문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🔄 거래 흐름</a:t>
            </a:r>
          </a:p>
          <a:p>
            <a:pPr algn="ctr">
              <a:spcAft>
                <a:spcPts val="75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🏭</a:t>
            </a:r>
          </a:p>
          <a:p>
            <a:pPr algn="ctr"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도매점</a:t>
            </a:r>
          </a:p>
          <a:p>
            <a:pPr algn="ctr"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상품 등록</a:t>
            </a:r>
          </a:p>
          <a:p>
            <a:pPr algn="l">
              <a:buNone/>
            </a:pP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75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🏪</a:t>
            </a:r>
          </a:p>
          <a:p>
            <a:pPr algn="ctr"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소매점</a:t>
            </a:r>
          </a:p>
          <a:p>
            <a:pPr algn="ctr"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상품 복제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마진</a:t>
            </a:r>
          </a:p>
          <a:p>
            <a:pPr algn="l">
              <a:buNone/>
            </a:pP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75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📲</a:t>
            </a:r>
          </a:p>
          <a:p>
            <a:pPr algn="ctr"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 링크</a:t>
            </a:r>
          </a:p>
          <a:p>
            <a:pPr algn="ctr"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주문 공유</a:t>
            </a:r>
          </a:p>
          <a:p>
            <a:pPr algn="l">
              <a:buNone/>
            </a:pP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75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👤</a:t>
            </a:r>
          </a:p>
          <a:p>
            <a:pPr algn="ctr"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소비자</a:t>
            </a:r>
          </a:p>
          <a:p>
            <a:pPr algn="ctr">
              <a:buNone/>
            </a:pP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간편 주문</a:t>
            </a:r>
          </a:p>
          <a:p>
            <a:pPr algn="l">
              <a:buNone/>
            </a:pPr>
            <a:r>
              <a:rPr lang="ko-KR" altLang="en-US" b="0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75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💰</a:t>
            </a:r>
          </a:p>
          <a:p>
            <a:pPr algn="ctr">
              <a:buNone/>
            </a:pP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자동 정산</a:t>
            </a:r>
          </a:p>
          <a:p>
            <a:pPr algn="ctr">
              <a:buNone/>
            </a:pPr>
            <a:r>
              <a:rPr lang="ko-KR" altLang="en-US" b="0" i="0" dirty="0" err="1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일정산</a:t>
            </a: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익일정산</a:t>
            </a:r>
          </a:p>
        </p:txBody>
      </p:sp>
    </p:spTree>
    <p:extLst>
      <p:ext uri="{BB962C8B-B14F-4D97-AF65-F5344CB8AC3E}">
        <p14:creationId xmlns:p14="http://schemas.microsoft.com/office/powerpoint/2010/main" val="2367965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C50F0-3207-B3D4-2D36-E3436AC4C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BDB51D-8578-4F27-0E47-7E176FFA6B17}"/>
              </a:ext>
            </a:extLst>
          </p:cNvPr>
          <p:cNvSpPr txBox="1"/>
          <p:nvPr/>
        </p:nvSpPr>
        <p:spPr>
          <a:xfrm>
            <a:off x="3049121" y="-3170242"/>
            <a:ext cx="6098240" cy="13198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⚙️</a:t>
            </a:r>
          </a:p>
          <a:p>
            <a:pPr algn="l">
              <a:spcAft>
                <a:spcPts val="3000"/>
              </a:spcAft>
              <a:buNone/>
            </a:pPr>
            <a:r>
              <a:rPr lang="en-US" altLang="ko-KR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K-MART </a:t>
            </a:r>
            <a:r>
              <a:rPr lang="ko-KR" altLang="en-US" b="1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핵심 기능</a:t>
            </a:r>
          </a:p>
          <a:p>
            <a:pPr algn="l">
              <a:spcAft>
                <a:spcPts val="3000"/>
              </a:spcAft>
              <a:buNone/>
            </a:pPr>
            <a:r>
              <a:rPr lang="en-US" altLang="ko-KR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Django 6.0 </a:t>
            </a:r>
            <a:r>
              <a:rPr lang="ko-KR" altLang="en-US" b="0" i="0" dirty="0"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기반 통합 관리 시스템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📦 상품 관리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무제한 계층 카테고리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도매가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소매가 이중 가격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소매점 독립 재고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en-US" altLang="ko-KR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RetailerProduct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상품별 고유 주문 코드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카톡 링크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엑셀 대량 업로드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다운로드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🛒 주문 관리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주문 상태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접수→확인→준비→출고→완료</a:t>
            </a:r>
            <a:endParaRPr lang="ko-KR" altLang="en-US" b="0" i="0" dirty="0"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카카오톡 자동 알림 메시지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비회원 간편 주문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자동 회원 생성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도매점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소매점 미니쇼핑몰 분리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출고 시 재고 자동 차감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💰 정산 관리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일정산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익일정산 선택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기간별 매출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매입 자동 집계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거래처별 미수금 현황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정산 내역 엑셀 다운로드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정산 이력 로그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감사 추적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b="1" i="0" dirty="0">
                <a:solidFill>
                  <a:srgbClr val="2563EB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📊 대시보드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오늘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 err="1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이번달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매출 통계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소매점별 판매 현황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도매점용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재고 부족 알림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대기 주문 현황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종합 리포트 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매출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매입</a:t>
            </a:r>
            <a:r>
              <a:rPr lang="en-US" altLang="ko-KR" b="0" i="0" dirty="0"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algn="ctr">
              <a:spcBef>
                <a:spcPts val="1875"/>
              </a:spcBef>
              <a:spcAft>
                <a:spcPts val="600"/>
              </a:spcAft>
              <a:buNone/>
            </a:pPr>
            <a:r>
              <a:rPr lang="ko-KR" altLang="en-US" b="0" i="0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거래 유형</a:t>
            </a:r>
          </a:p>
          <a:p>
            <a:pPr algn="ctr">
              <a:spcBef>
                <a:spcPts val="1875"/>
              </a:spcBef>
              <a:buNone/>
            </a:pPr>
            <a:r>
              <a:rPr lang="en-US" altLang="ko-KR" b="1" i="0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종</a:t>
            </a:r>
            <a:endParaRPr lang="ko-KR" altLang="en-US" b="1" i="0" dirty="0">
              <a:solidFill>
                <a:srgbClr val="FFFFF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Bef>
                <a:spcPts val="1875"/>
              </a:spcBef>
              <a:spcAft>
                <a:spcPts val="600"/>
              </a:spcAft>
              <a:buNone/>
            </a:pPr>
            <a:r>
              <a:rPr lang="ko-KR" altLang="en-US" b="0" i="0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주문 상태</a:t>
            </a:r>
          </a:p>
          <a:p>
            <a:pPr algn="ctr">
              <a:spcBef>
                <a:spcPts val="1875"/>
              </a:spcBef>
              <a:buNone/>
            </a:pPr>
            <a:r>
              <a:rPr lang="en-US" altLang="ko-KR" b="1" i="0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단계</a:t>
            </a:r>
            <a:endParaRPr lang="ko-KR" altLang="en-US" b="1" i="0" dirty="0">
              <a:solidFill>
                <a:srgbClr val="FFFFF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Bef>
                <a:spcPts val="1875"/>
              </a:spcBef>
              <a:spcAft>
                <a:spcPts val="600"/>
              </a:spcAft>
              <a:buNone/>
            </a:pPr>
            <a:r>
              <a:rPr lang="ko-KR" altLang="en-US" b="0" i="0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정산 방식</a:t>
            </a:r>
          </a:p>
          <a:p>
            <a:pPr algn="ctr">
              <a:spcBef>
                <a:spcPts val="1875"/>
              </a:spcBef>
              <a:buNone/>
            </a:pPr>
            <a:r>
              <a:rPr lang="en-US" altLang="ko-KR" b="1" i="0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b="0" i="0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종</a:t>
            </a:r>
            <a:endParaRPr lang="ko-KR" altLang="en-US" b="1" i="0" dirty="0">
              <a:solidFill>
                <a:srgbClr val="FFFFF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None/>
            </a:pPr>
            <a:br>
              <a:rPr lang="ko-KR" altLang="en-US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0910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7F3A8-12A0-6253-B696-8F1D378D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FDB9C1A-BA8F-2993-1046-B2B23AB06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427523"/>
              </p:ext>
            </p:extLst>
          </p:nvPr>
        </p:nvGraphicFramePr>
        <p:xfrm>
          <a:off x="2198774" y="1825625"/>
          <a:ext cx="7794452" cy="4351338"/>
        </p:xfrm>
        <a:graphic>
          <a:graphicData uri="http://schemas.openxmlformats.org/drawingml/2006/table">
            <a:tbl>
              <a:tblPr/>
              <a:tblGrid>
                <a:gridCol w="1948613">
                  <a:extLst>
                    <a:ext uri="{9D8B030D-6E8A-4147-A177-3AD203B41FA5}">
                      <a16:colId xmlns:a16="http://schemas.microsoft.com/office/drawing/2014/main" val="1012809722"/>
                    </a:ext>
                  </a:extLst>
                </a:gridCol>
                <a:gridCol w="1948613">
                  <a:extLst>
                    <a:ext uri="{9D8B030D-6E8A-4147-A177-3AD203B41FA5}">
                      <a16:colId xmlns:a16="http://schemas.microsoft.com/office/drawing/2014/main" val="1929791332"/>
                    </a:ext>
                  </a:extLst>
                </a:gridCol>
                <a:gridCol w="1948613">
                  <a:extLst>
                    <a:ext uri="{9D8B030D-6E8A-4147-A177-3AD203B41FA5}">
                      <a16:colId xmlns:a16="http://schemas.microsoft.com/office/drawing/2014/main" val="2755529285"/>
                    </a:ext>
                  </a:extLst>
                </a:gridCol>
                <a:gridCol w="1948613">
                  <a:extLst>
                    <a:ext uri="{9D8B030D-6E8A-4147-A177-3AD203B41FA5}">
                      <a16:colId xmlns:a16="http://schemas.microsoft.com/office/drawing/2014/main" val="4170147710"/>
                    </a:ext>
                  </a:extLst>
                </a:gridCol>
              </a:tblGrid>
              <a:tr h="4473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b="1">
                          <a:solidFill>
                            <a:srgbClr val="FFFFFF"/>
                          </a:solidFill>
                          <a:effectLst/>
                        </a:rPr>
                        <a:t>구분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</a:rPr>
                        <a:t>PDF </a:t>
                      </a:r>
                      <a:r>
                        <a:rPr lang="ko-KR" altLang="en-US" sz="1600" b="1">
                          <a:solidFill>
                            <a:srgbClr val="FFFFFF"/>
                          </a:solidFill>
                          <a:effectLst/>
                        </a:rPr>
                        <a:t>모바일 변환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b="1">
                          <a:solidFill>
                            <a:srgbClr val="FFFFFF"/>
                          </a:solidFill>
                          <a:effectLst/>
                        </a:rPr>
                        <a:t>외국어 학습기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b="1">
                          <a:solidFill>
                            <a:srgbClr val="FFFFFF"/>
                          </a:solidFill>
                          <a:effectLst/>
                        </a:rPr>
                        <a:t>유통관리 시스템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39147"/>
                  </a:ext>
                </a:extLst>
              </a:tr>
              <a:tr h="6913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b="1">
                          <a:effectLst/>
                        </a:rPr>
                        <a:t>핵심 기능</a:t>
                      </a:r>
                      <a:endParaRPr lang="ko-KR" altLang="en-US" sz="1600">
                        <a:effectLst/>
                      </a:endParaRP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PDF → HTML </a:t>
                      </a:r>
                      <a:r>
                        <a:rPr lang="ko-KR" altLang="en-US" sz="1600">
                          <a:effectLst/>
                        </a:rPr>
                        <a:t>자동 변환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>
                          <a:effectLst/>
                        </a:rPr>
                        <a:t>직군별 다국어 학습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B2B2C </a:t>
                      </a:r>
                      <a:r>
                        <a:rPr lang="ko-KR" altLang="en-US" sz="1600">
                          <a:effectLst/>
                        </a:rPr>
                        <a:t>통합 관리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822812"/>
                  </a:ext>
                </a:extLst>
              </a:tr>
              <a:tr h="6913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b="1">
                          <a:effectLst/>
                        </a:rPr>
                        <a:t>기술 스택</a:t>
                      </a:r>
                      <a:endParaRPr lang="ko-KR" altLang="en-US" sz="1600">
                        <a:effectLst/>
                      </a:endParaRP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Flask, Claude Vision API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React, TTS API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Django 6.0, Kakao API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927952"/>
                  </a:ext>
                </a:extLst>
              </a:tr>
              <a:tr h="6913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b="1">
                          <a:effectLst/>
                        </a:rPr>
                        <a:t>주요 고객</a:t>
                      </a:r>
                      <a:endParaRPr lang="ko-KR" altLang="en-US" sz="1600">
                        <a:effectLst/>
                      </a:endParaRP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>
                          <a:effectLst/>
                        </a:rPr>
                        <a:t>교회</a:t>
                      </a:r>
                      <a:r>
                        <a:rPr lang="en-US" altLang="ko-KR" sz="1600">
                          <a:effectLst/>
                        </a:rPr>
                        <a:t>, </a:t>
                      </a:r>
                      <a:r>
                        <a:rPr lang="ko-KR" altLang="en-US" sz="1600">
                          <a:effectLst/>
                        </a:rPr>
                        <a:t>정당</a:t>
                      </a:r>
                      <a:r>
                        <a:rPr lang="en-US" altLang="ko-KR" sz="1600">
                          <a:effectLst/>
                        </a:rPr>
                        <a:t>, </a:t>
                      </a:r>
                      <a:r>
                        <a:rPr lang="ko-KR" altLang="en-US" sz="1600">
                          <a:effectLst/>
                        </a:rPr>
                        <a:t>교육기관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>
                          <a:effectLst/>
                        </a:rPr>
                        <a:t>병원</a:t>
                      </a:r>
                      <a:r>
                        <a:rPr lang="en-US" altLang="ko-KR" sz="1600">
                          <a:effectLst/>
                        </a:rPr>
                        <a:t>, </a:t>
                      </a:r>
                      <a:r>
                        <a:rPr lang="ko-KR" altLang="en-US" sz="1600">
                          <a:effectLst/>
                        </a:rPr>
                        <a:t>호텔</a:t>
                      </a:r>
                      <a:r>
                        <a:rPr lang="en-US" altLang="ko-KR" sz="1600">
                          <a:effectLst/>
                        </a:rPr>
                        <a:t>, </a:t>
                      </a:r>
                      <a:r>
                        <a:rPr lang="ko-KR" altLang="en-US" sz="1600">
                          <a:effectLst/>
                        </a:rPr>
                        <a:t>면세점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>
                          <a:effectLst/>
                        </a:rPr>
                        <a:t>도매</a:t>
                      </a:r>
                      <a:r>
                        <a:rPr lang="en-US" altLang="ko-KR" sz="1600">
                          <a:effectLst/>
                        </a:rPr>
                        <a:t>/</a:t>
                      </a:r>
                      <a:r>
                        <a:rPr lang="ko-KR" altLang="en-US" sz="1600">
                          <a:effectLst/>
                        </a:rPr>
                        <a:t>소매 유통업체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40895"/>
                  </a:ext>
                </a:extLst>
              </a:tr>
              <a:tr h="6913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b="1">
                          <a:effectLst/>
                        </a:rPr>
                        <a:t>특징</a:t>
                      </a:r>
                      <a:endParaRPr lang="ko-KR" altLang="en-US" sz="1600">
                        <a:effectLst/>
                      </a:endParaRP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600">
                          <a:effectLst/>
                        </a:rPr>
                        <a:t>8</a:t>
                      </a:r>
                      <a:r>
                        <a:rPr lang="ko-KR" altLang="en-US" sz="1600">
                          <a:effectLst/>
                        </a:rPr>
                        <a:t>개국어</a:t>
                      </a:r>
                      <a:r>
                        <a:rPr lang="en-US" altLang="ko-KR" sz="1600">
                          <a:effectLst/>
                        </a:rPr>
                        <a:t>, </a:t>
                      </a:r>
                      <a:r>
                        <a:rPr lang="ko-KR" altLang="en-US" sz="1600">
                          <a:effectLst/>
                        </a:rPr>
                        <a:t>성경</a:t>
                      </a:r>
                      <a:r>
                        <a:rPr lang="en-US" altLang="ko-KR" sz="1600">
                          <a:effectLst/>
                        </a:rPr>
                        <a:t>/</a:t>
                      </a:r>
                      <a:r>
                        <a:rPr lang="ko-KR" altLang="en-US" sz="1600">
                          <a:effectLst/>
                        </a:rPr>
                        <a:t>찬송 연동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600">
                          <a:effectLst/>
                        </a:rPr>
                        <a:t>7</a:t>
                      </a:r>
                      <a:r>
                        <a:rPr lang="ko-KR" altLang="en-US" sz="1600">
                          <a:effectLst/>
                        </a:rPr>
                        <a:t>개 직군</a:t>
                      </a:r>
                      <a:r>
                        <a:rPr lang="en-US" altLang="ko-KR" sz="1600">
                          <a:effectLst/>
                        </a:rPr>
                        <a:t>, </a:t>
                      </a:r>
                      <a:r>
                        <a:rPr lang="ko-KR" altLang="en-US" sz="1600">
                          <a:effectLst/>
                        </a:rPr>
                        <a:t>음성 지원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600">
                          <a:effectLst/>
                        </a:rPr>
                        <a:t>3</a:t>
                      </a:r>
                      <a:r>
                        <a:rPr lang="ko-KR" altLang="en-US" sz="1600">
                          <a:effectLst/>
                        </a:rPr>
                        <a:t>단계 계층</a:t>
                      </a:r>
                      <a:r>
                        <a:rPr lang="en-US" altLang="ko-KR" sz="1600">
                          <a:effectLst/>
                        </a:rPr>
                        <a:t>, </a:t>
                      </a:r>
                      <a:r>
                        <a:rPr lang="ko-KR" altLang="en-US" sz="1600">
                          <a:effectLst/>
                        </a:rPr>
                        <a:t>자동 정산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126428"/>
                  </a:ext>
                </a:extLst>
              </a:tr>
              <a:tr h="6913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b="1">
                          <a:effectLst/>
                        </a:rPr>
                        <a:t>배포 방식</a:t>
                      </a:r>
                      <a:endParaRPr lang="ko-KR" altLang="en-US" sz="1600">
                        <a:effectLst/>
                      </a:endParaRP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SaaS / On-premise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SaaS / </a:t>
                      </a:r>
                      <a:r>
                        <a:rPr lang="ko-KR" altLang="en-US" sz="1600">
                          <a:effectLst/>
                        </a:rPr>
                        <a:t>앱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SaaS / </a:t>
                      </a:r>
                      <a:r>
                        <a:rPr lang="ko-KR" altLang="en-US" sz="1600">
                          <a:effectLst/>
                        </a:rPr>
                        <a:t>맞춤 개발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665675"/>
                  </a:ext>
                </a:extLst>
              </a:tr>
              <a:tr h="4473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b="1">
                          <a:effectLst/>
                        </a:rPr>
                        <a:t>현황</a:t>
                      </a:r>
                      <a:endParaRPr lang="ko-KR" altLang="en-US" sz="1600">
                        <a:effectLst/>
                      </a:endParaRP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>
                          <a:effectLst/>
                        </a:rPr>
                        <a:t>✅ 운영 중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>
                          <a:effectLst/>
                        </a:rPr>
                        <a:t>✅ 운영 중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dirty="0">
                          <a:effectLst/>
                        </a:rPr>
                        <a:t>✅ 운영 중</a:t>
                      </a:r>
                    </a:p>
                  </a:txBody>
                  <a:tcPr marL="135556" marR="135556" marT="101667" marB="101667" anchor="ctr">
                    <a:lnL>
                      <a:noFill/>
                    </a:lnL>
                    <a:lnR>
                      <a:noFill/>
                    </a:lnR>
                    <a:lnT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77038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5D04F711-8FE3-5467-4E9B-0F26EFD10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8688" y="1133128"/>
            <a:ext cx="1673535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>
                <a:ln>
                  <a:noFill/>
                </a:ln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📊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>
              <a:ln>
                <a:noFill/>
              </a:ln>
              <a:solidFill>
                <a:srgbClr val="1F2937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>
                <a:ln>
                  <a:noFill/>
                </a:ln>
                <a:solidFill>
                  <a:srgbClr val="1F2937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솔루션 비교 요약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>
                <a:ln>
                  <a:noFill/>
                </a:ln>
                <a:solidFill>
                  <a:srgbClr val="6B728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기술 스택 및 특징</a:t>
            </a:r>
            <a:endParaRPr kumimoji="0" lang="ko-KR" altLang="ko-KR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42658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41C77-7756-394E-41CB-845A9B52E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3E0914-1142-127A-973E-94E86309D85B}"/>
              </a:ext>
            </a:extLst>
          </p:cNvPr>
          <p:cNvSpPr txBox="1"/>
          <p:nvPr/>
        </p:nvSpPr>
        <p:spPr>
          <a:xfrm>
            <a:off x="3049121" y="79365"/>
            <a:ext cx="6098240" cy="6699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750"/>
              </a:spcAft>
              <a:buNone/>
            </a:pPr>
            <a:r>
              <a:rPr lang="ko-KR" altLang="en-US" b="1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문의</a:t>
            </a:r>
          </a:p>
          <a:p>
            <a:pPr algn="ctr">
              <a:spcAft>
                <a:spcPts val="1125"/>
              </a:spcAft>
              <a:buNone/>
            </a:pPr>
            <a:r>
              <a:rPr lang="ko-KR" altLang="en-US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📧</a:t>
            </a:r>
          </a:p>
          <a:p>
            <a:pPr algn="ctr">
              <a:spcAft>
                <a:spcPts val="600"/>
              </a:spcAft>
              <a:buNone/>
            </a:pPr>
            <a:r>
              <a:rPr lang="ko-KR" altLang="en-US" b="1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이메일</a:t>
            </a:r>
          </a:p>
          <a:p>
            <a:pPr algn="ctr">
              <a:spcAft>
                <a:spcPts val="3750"/>
              </a:spcAft>
              <a:buNone/>
            </a:pPr>
            <a:r>
              <a:rPr lang="en-US" altLang="ko-KR" b="1" i="0" u="none" strike="noStrike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jmyangkr@gmail.com</a:t>
            </a:r>
            <a:endParaRPr lang="ko-KR" altLang="en-US" b="1" i="0" dirty="0"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1125"/>
              </a:spcAft>
              <a:buNone/>
            </a:pPr>
            <a:r>
              <a:rPr lang="ko-KR" altLang="en-US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📞</a:t>
            </a:r>
          </a:p>
          <a:p>
            <a:pPr algn="ctr">
              <a:spcAft>
                <a:spcPts val="600"/>
              </a:spcAft>
              <a:buNone/>
            </a:pPr>
            <a:r>
              <a:rPr lang="ko-KR" altLang="en-US" b="1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연락처</a:t>
            </a:r>
          </a:p>
          <a:p>
            <a:pPr algn="ctr">
              <a:spcAft>
                <a:spcPts val="3750"/>
              </a:spcAft>
              <a:buNone/>
            </a:pPr>
            <a:r>
              <a:rPr lang="en-US" altLang="ko-KR" b="1" i="0" u="none" strike="noStrike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010-8665-8150</a:t>
            </a:r>
            <a:endParaRPr lang="ko-KR" altLang="en-US" b="1" i="0" dirty="0"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1125"/>
              </a:spcAft>
              <a:buNone/>
            </a:pPr>
            <a:r>
              <a:rPr lang="ko-KR" altLang="en-US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🔗</a:t>
            </a:r>
          </a:p>
          <a:p>
            <a:pPr algn="ctr">
              <a:spcAft>
                <a:spcPts val="600"/>
              </a:spcAft>
              <a:buNone/>
            </a:pPr>
            <a:r>
              <a:rPr lang="ko-KR" altLang="en-US" b="1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데모</a:t>
            </a:r>
          </a:p>
          <a:p>
            <a:pPr algn="ctr">
              <a:spcAft>
                <a:spcPts val="3750"/>
              </a:spcAft>
              <a:buNone/>
            </a:pPr>
            <a:r>
              <a:rPr lang="en-US" altLang="ko-KR" b="1" i="0" u="none" strike="noStrike" dirty="0" err="1">
                <a:effectLst/>
                <a:latin typeface="Noto Sans KR" panose="020B0200000000000000" pitchFamily="50" charset="-127"/>
                <a:ea typeface="Noto Sans KR" panose="020B0200000000000000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studysnap-mobile.netlify.app</a:t>
            </a:r>
            <a:endParaRPr lang="ko-KR" altLang="en-US" b="1" i="0" dirty="0"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2250"/>
              </a:spcAft>
              <a:buNone/>
            </a:pPr>
            <a:r>
              <a:rPr lang="ko-KR" altLang="en-US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맞춤형 솔루션 개발 및 기술 컨설팅 상담 가능</a:t>
            </a:r>
          </a:p>
          <a:p>
            <a:pPr algn="ctr">
              <a:spcBef>
                <a:spcPts val="3000"/>
              </a:spcBef>
              <a:buNone/>
            </a:pPr>
            <a:r>
              <a:rPr lang="en-US" altLang="ko-KR" b="1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94828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0373-D0B2-10C7-904C-1FCEAB15D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0909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97918-5C83-60FE-6BA4-A686EB0CF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320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030A1-1035-3386-350B-51D872CBE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007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1187</Words>
  <Application>Microsoft Office PowerPoint</Application>
  <PresentationFormat>와이드스크린</PresentationFormat>
  <Paragraphs>308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abu8w</dc:creator>
  <cp:lastModifiedBy>abu8w</cp:lastModifiedBy>
  <cp:revision>1</cp:revision>
  <dcterms:created xsi:type="dcterms:W3CDTF">2025-12-18T10:35:42Z</dcterms:created>
  <dcterms:modified xsi:type="dcterms:W3CDTF">2025-12-18T10:43:46Z</dcterms:modified>
</cp:coreProperties>
</file>