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6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A629E-592B-87C0-0989-1C8B72BC2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52A5D8-C50A-40C2-0586-CC8463F2B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B9E54-E791-C91A-11F3-F0BE3413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FCA06-C1D4-9F40-A37D-CD3FC11A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D5F06-4112-AB6D-50C7-6B65B377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1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F59AA-DBAD-01C2-CA38-F58C4771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E200FF-7B4B-7017-C1BA-10C39471E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B756AE-CC66-B5FE-C66C-EB8F8D45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6917DE-FEB5-6899-C4EE-48A3AF62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3CD96C-143F-864D-5D2F-8F1B5F21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22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47A61-1739-986E-B4A4-6EC0C8DEC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D2196B-8610-7C4A-A859-1D6DE5D3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406646-4849-37DF-04D5-6C8B8114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E9B91-920D-D730-FDC1-3C622D6B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8D6D2D-177E-9F0B-ACFC-67CF9333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51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3D61-346C-56CE-8241-592C0909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39031-6BCD-F116-7A17-532244A5D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89B81A-3CFD-901C-76C1-410A807A8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6ED608-0DD9-AB6B-6159-D47DA9BC8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5E806B-218F-D359-3EAA-4F9E4C3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354784-A98D-7A87-3075-77D18804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45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1BB2D-311E-B4BD-9C37-188FE629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B569E5-CEA3-5967-6255-C4B90275B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EF426C-7FC1-2BA2-EF91-65654F4A1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1CFD9E-F392-B000-9334-1615E7B53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1C1AD3-642D-EBE8-C491-D8FAF8CC0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82734B-EF10-995F-868C-637F1DD9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34D7E9-11DA-ED13-1DD8-9BBCD7F85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AE7306-5F77-E344-4523-84B2CCC4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15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2E4E2-1107-F356-0DF2-DFE0C5F45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F6F84F-F2B7-F48F-D177-E4D2699B6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60F0A6-8176-0D0A-FF1B-F33C38AF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18B61C-2730-5634-60CE-903F0528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7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257F8D-FA2C-E38E-3FDA-C2B9422F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A3A459-46AB-070F-CC28-CB9C85DE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93800-9AC3-D5F6-2ED5-47513B56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08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D9FBE-FDCB-878F-7175-DD20948E3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3FF7F-5E3E-E0A0-8DC9-E4B4432BA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9DEBD-ACEF-08F6-A95B-68EED07F9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8EA6A4-C996-D9AE-87E6-DA53111F7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DE3B2C-FA50-3772-2F2B-6F87309D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C415C2-4231-C19D-E6D5-0C014F47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48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07385-F2BF-D0FE-7C01-8FE0EF43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D145CC-33BF-DAA0-F8E7-90567B6EA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0B9B96-7747-B8AC-7E2F-B00CB4293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573353-C23F-4422-55C1-70D69534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4E46-517A-835E-2964-BFA24415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A02CF4-6439-451A-0A66-7B33F229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79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FC7A1-6AE2-CECC-3BAF-B19969D16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17452C-E9F3-7FCD-772E-D3EF5A5CA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6E62C-7821-0035-4A49-D61795F4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DFDD2-BD3C-6C00-99CE-FE6A7731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14FA30-56E5-32D8-DF8D-CD326F43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08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8E3A84-C513-372E-521A-ED73EE59D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BA6736-440A-C857-1210-D65E2F73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22582-EEB4-E23B-B5E8-A12C5B87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5BA43-40AF-82AC-71C5-C9FB05B7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F0EA52-C726-1D4C-8695-FB911E13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53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15E9C7-BD0D-FB37-AD76-FA415DA5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CED72D-BC64-4C28-4229-FAFD6F562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BB8CA-3997-1245-4C1E-68255B400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4A281-1739-4F15-8A23-DBEBDC9E9AFB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4FF3B8-E61E-731D-C45A-98CF533BF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1B15A-ACAE-9315-D955-9CD297A48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BDD36-6A40-4342-B271-F2AA78146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4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B4526-EEEA-186D-2070-25718BE6A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ko-KR" sz="8800" b="1" spc="600" dirty="0" err="1"/>
              <a:t>StudySnap</a:t>
            </a:r>
            <a:endParaRPr lang="ko-KR" altLang="en-US" sz="8800" b="1" spc="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97983B-A9CA-68D3-5D6A-C97C6C2BF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ko-KR" altLang="en-US" sz="3200" dirty="0"/>
              <a:t>시장 수요 및 사업성 분석</a:t>
            </a:r>
          </a:p>
        </p:txBody>
      </p:sp>
    </p:spTree>
    <p:extLst>
      <p:ext uri="{BB962C8B-B14F-4D97-AF65-F5344CB8AC3E}">
        <p14:creationId xmlns:p14="http://schemas.microsoft.com/office/powerpoint/2010/main" val="2592919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021EE-81B6-EF09-4761-204DEC1E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818"/>
            <a:ext cx="10515600" cy="1325563"/>
          </a:xfrm>
        </p:spPr>
        <p:txBody>
          <a:bodyPr/>
          <a:lstStyle/>
          <a:p>
            <a:r>
              <a:rPr lang="ko-KR" altLang="ko-KR" b="1" dirty="0">
                <a:latin typeface="Arial" panose="020B0604020202020204" pitchFamily="34" charset="0"/>
              </a:rPr>
              <a:t>🎯 주요 수요 근거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36BB66-2036-74A6-9A8E-12F744672C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7724" y="1219101"/>
            <a:ext cx="10276551" cy="5638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스마트폰 가독성 문제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PDF는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고정된 인쇄용 페이지에 맞춰 설계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되어,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스마트폰의 좁은 화면에서는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Arial" panose="020B0604020202020204" pitchFamily="34" charset="0"/>
              </a:rPr>
              <a:t>확대/축소 및 반복적인 스크롤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이 필수적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이며 ,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텍스트가 작게 보이거나 리플로우(자동 재배열)가 지원되지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않아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읽기 연속성이 끊깁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니다.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문제를 해결하는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모바일 전용 솔루션에 대한 수요가 높습니다.</a:t>
            </a:r>
            <a:endParaRPr kumimoji="0" lang="en-US" altLang="ko-KR" sz="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학습 및 활용의 비효율성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목차/주석 접근성, 연속 스크롤 부족, 하이라이트/필기 기능의 제한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일관성 부족으로 인해 실질적인 학습 도구로 활용하기 어렵습니다.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리소스 및 성능 문제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ko-KR" sz="1600" dirty="0">
              <a:latin typeface="Arial" panose="020B0604020202020204" pitchFamily="34" charset="0"/>
            </a:endParaRP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큰 파일 크기, 복잡한 렌더링 부하는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다운로드 시간 지연, 저장 공간 차지, 하위 사양 기기 충돌 등 성능 저하를 일으킵니다.</a:t>
            </a: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결론적으로,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대학생들은 작은 화면에서의 가독성 부족, 인터랙티브 기능 미비, 자료 정리 및 공유의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불편함 을 겪고 있으므로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이를 해소하는 솔루션은 명확한 시장 수요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가집니다.</a:t>
            </a:r>
          </a:p>
        </p:txBody>
      </p:sp>
    </p:spTree>
    <p:extLst>
      <p:ext uri="{BB962C8B-B14F-4D97-AF65-F5344CB8AC3E}">
        <p14:creationId xmlns:p14="http://schemas.microsoft.com/office/powerpoint/2010/main" val="341605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F245-9DD2-369B-C4F9-9EEC7652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9F893-0C39-5FB6-907A-80211F7B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818"/>
            <a:ext cx="10515600" cy="1325563"/>
          </a:xfrm>
        </p:spPr>
        <p:txBody>
          <a:bodyPr/>
          <a:lstStyle/>
          <a:p>
            <a:r>
              <a:rPr lang="ko-KR" altLang="en-US" dirty="0"/>
              <a:t>📈 시장 진입 전략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99AD999-8010-BFAD-C314-EC4E7DD8F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079704"/>
              </p:ext>
            </p:extLst>
          </p:nvPr>
        </p:nvGraphicFramePr>
        <p:xfrm>
          <a:off x="765717" y="2109790"/>
          <a:ext cx="10660566" cy="44974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40674">
                  <a:extLst>
                    <a:ext uri="{9D8B030D-6E8A-4147-A177-3AD203B41FA5}">
                      <a16:colId xmlns:a16="http://schemas.microsoft.com/office/drawing/2014/main" val="215724892"/>
                    </a:ext>
                  </a:extLst>
                </a:gridCol>
                <a:gridCol w="4309946">
                  <a:extLst>
                    <a:ext uri="{9D8B030D-6E8A-4147-A177-3AD203B41FA5}">
                      <a16:colId xmlns:a16="http://schemas.microsoft.com/office/drawing/2014/main" val="852836128"/>
                    </a:ext>
                  </a:extLst>
                </a:gridCol>
                <a:gridCol w="4309946">
                  <a:extLst>
                    <a:ext uri="{9D8B030D-6E8A-4147-A177-3AD203B41FA5}">
                      <a16:colId xmlns:a16="http://schemas.microsoft.com/office/drawing/2014/main" val="45387444"/>
                    </a:ext>
                  </a:extLst>
                </a:gridCol>
              </a:tblGrid>
              <a:tr h="32866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</a:rPr>
                        <a:t>정책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</a:rPr>
                        <a:t>상세 설명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400" b="1" dirty="0">
                          <a:solidFill>
                            <a:srgbClr val="1F1F1F"/>
                          </a:solidFill>
                          <a:effectLst/>
                        </a:rPr>
                        <a:t>추천 이유</a:t>
                      </a:r>
                      <a:endParaRPr lang="ko-KR" altLang="en-US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24904"/>
                  </a:ext>
                </a:extLst>
              </a:tr>
              <a:tr h="13850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프리미엄</a:t>
                      </a:r>
                      <a:r>
                        <a:rPr lang="en-US" altLang="ko-KR" sz="1600" b="1" dirty="0">
                          <a:solidFill>
                            <a:srgbClr val="1F1F1F"/>
                          </a:solidFill>
                          <a:effectLst/>
                        </a:rPr>
                        <a:t>(Freemium) 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모델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무료 버전</a:t>
                      </a:r>
                      <a:r>
                        <a:rPr lang="en-US" altLang="ko-KR" sz="1600" b="1" dirty="0">
                          <a:solidFill>
                            <a:srgbClr val="1F1F1F"/>
                          </a:solidFill>
                          <a:effectLst/>
                        </a:rPr>
                        <a:t>:</a:t>
                      </a: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기본적인 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PDF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뷰어 기능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제한된 최적화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예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: 3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개 파일만 최적화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). </a:t>
                      </a:r>
                      <a:b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US" altLang="ko-KR" sz="14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유료 구독</a:t>
                      </a:r>
                      <a:r>
                        <a:rPr lang="en-US" altLang="ko-KR" sz="1600" b="1" dirty="0">
                          <a:solidFill>
                            <a:srgbClr val="1F1F1F"/>
                          </a:solidFill>
                          <a:effectLst/>
                        </a:rPr>
                        <a:t>: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무제한 파일 최적화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고급 학습 기능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(AI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요약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무제한 주석 동기화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오프라인 모드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).</a:t>
                      </a:r>
                      <a:endParaRPr lang="en-US" altLang="ko-KR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대학생들은 비용에 민감하므로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진입 장벽을 낮추고 핵심 가치를 경험하게 한 후 유료 전환을 유도하기 좋습니다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346151"/>
                  </a:ext>
                </a:extLst>
              </a:tr>
              <a:tr h="115344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기간제 구독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</a:rPr>
                        <a:t>월별 또는 학기별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</a:rPr>
                        <a:t>($\approx 4$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</a:rPr>
                        <a:t>개월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</a:rPr>
                        <a:t>)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</a:rPr>
                        <a:t>구독 모델을 제공</a:t>
                      </a:r>
                      <a:r>
                        <a:rPr lang="en-US" altLang="ko-KR" sz="14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40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대학생의 주기를 고려하여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방학에는 구독 해지하고 </a:t>
                      </a:r>
                      <a:b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학기 중에 다시 구독하는 유연성을 제공할 수 있습니다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421232"/>
                  </a:ext>
                </a:extLst>
              </a:tr>
              <a:tr h="115344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교육기관 라이선스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대학이나 단과대에 솔루션 전체를 </a:t>
                      </a:r>
                      <a:r>
                        <a:rPr lang="en-US" altLang="ko-KR" sz="1600" b="1" dirty="0">
                          <a:solidFill>
                            <a:srgbClr val="1F1F1F"/>
                          </a:solidFill>
                          <a:effectLst/>
                        </a:rPr>
                        <a:t>B2B</a:t>
                      </a: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로 판매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대량 사용자 확보가 가능하며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b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학생들이 개별 구매할 필요 없이 </a:t>
                      </a:r>
                      <a:b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ko-KR" altLang="en-US" sz="1400" dirty="0">
                          <a:solidFill>
                            <a:srgbClr val="1F1F1F"/>
                          </a:solidFill>
                          <a:effectLst/>
                        </a:rPr>
                        <a:t>학교 시스템을 통해 접근할 수 있게 하여 편리성을 높입니다</a:t>
                      </a:r>
                      <a:r>
                        <a:rPr lang="en-US" altLang="ko-KR" sz="14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altLang="ko-KR" sz="1400" dirty="0">
                        <a:solidFill>
                          <a:srgbClr val="1F1F1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5274" marR="105274" marT="70183" marB="701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609507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A9BF3A-F499-D178-4F6C-5B4ADC9340F0}"/>
              </a:ext>
            </a:extLst>
          </p:cNvPr>
          <p:cNvSpPr txBox="1"/>
          <p:nvPr/>
        </p:nvSpPr>
        <p:spPr>
          <a:xfrm>
            <a:off x="0" y="1365381"/>
            <a:ext cx="6216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💰 가격 정책 </a:t>
            </a:r>
            <a:r>
              <a:rPr lang="en-US" altLang="ko-KR" b="1" dirty="0"/>
              <a:t>(Pricing Policy)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2987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F18F-3813-7C53-384F-4FBF17DF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C257D-B102-578C-4666-2A2193A3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818"/>
            <a:ext cx="10515600" cy="1325563"/>
          </a:xfrm>
        </p:spPr>
        <p:txBody>
          <a:bodyPr/>
          <a:lstStyle/>
          <a:p>
            <a:r>
              <a:rPr lang="ko-KR" altLang="en-US" dirty="0"/>
              <a:t>📈 시장 진입 전략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60386-E671-91BA-6E17-B3B3C1E3033A}"/>
              </a:ext>
            </a:extLst>
          </p:cNvPr>
          <p:cNvSpPr txBox="1"/>
          <p:nvPr/>
        </p:nvSpPr>
        <p:spPr>
          <a:xfrm>
            <a:off x="0" y="1365381"/>
            <a:ext cx="6216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🛒 판매 및 유통 방식 </a:t>
            </a:r>
            <a:r>
              <a:rPr lang="en-US" altLang="ko-KR" b="1" dirty="0"/>
              <a:t>(Sales &amp; Distribution)</a:t>
            </a:r>
            <a:endParaRPr lang="ko-KR" alt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D60FC5-08C2-295B-875B-96169627C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724" y="2535600"/>
            <a:ext cx="10276551" cy="3329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 b="1" dirty="0"/>
              <a:t>App Store/Google Play:</a:t>
            </a:r>
            <a:r>
              <a:rPr lang="en-US" altLang="ko-KR" sz="1800" dirty="0"/>
              <a:t> </a:t>
            </a:r>
            <a:br>
              <a:rPr lang="en-US" altLang="ko-KR" sz="1200" dirty="0">
                <a:latin typeface="Arial" panose="020B0604020202020204" pitchFamily="34" charset="0"/>
              </a:rPr>
            </a:br>
            <a:r>
              <a:rPr lang="en-US" altLang="ko-KR" sz="1200" dirty="0">
                <a:latin typeface="Arial" panose="020B0604020202020204" pitchFamily="34" charset="0"/>
              </a:rPr>
              <a:t>	</a:t>
            </a:r>
            <a:r>
              <a:rPr lang="ko-KR" altLang="en-US" sz="1400" dirty="0"/>
              <a:t>개인 사용자 대상의 주력 판매 채널입니다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검색 최적화</a:t>
            </a:r>
            <a:r>
              <a:rPr lang="en-US" altLang="ko-KR" sz="1400" dirty="0"/>
              <a:t>(SEO)</a:t>
            </a:r>
            <a:r>
              <a:rPr lang="ko-KR" altLang="en-US" sz="1400" dirty="0"/>
              <a:t>와 대학생 커뮤니티 마케팅을 병행해야 합니다</a:t>
            </a:r>
            <a:r>
              <a:rPr lang="en-US" altLang="ko-KR" sz="1400" dirty="0"/>
              <a:t>.</a:t>
            </a:r>
            <a:endParaRPr lang="ko-KR" altLang="ko-KR" sz="8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800" b="1" dirty="0"/>
              <a:t>캠퍼스 파트너십</a:t>
            </a:r>
            <a:r>
              <a:rPr lang="en-US" altLang="ko-KR" sz="1800" b="1" dirty="0"/>
              <a:t>/B2B:</a:t>
            </a:r>
            <a:r>
              <a:rPr lang="en-US" altLang="ko-KR" sz="1400" dirty="0">
                <a:latin typeface="Arial" panose="020B0604020202020204" pitchFamily="34" charset="0"/>
              </a:rPr>
              <a:t>	</a:t>
            </a:r>
            <a:br>
              <a:rPr lang="en-US" altLang="ko-KR" sz="1400" dirty="0">
                <a:latin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ko-KR" altLang="en-US" sz="1400" dirty="0"/>
              <a:t>대학 도서관</a:t>
            </a:r>
            <a:r>
              <a:rPr lang="en-US" altLang="ko-KR" sz="1400" dirty="0"/>
              <a:t>, </a:t>
            </a:r>
            <a:r>
              <a:rPr lang="ko-KR" altLang="en-US" sz="1400" dirty="0"/>
              <a:t>학생회 또는 **</a:t>
            </a:r>
            <a:r>
              <a:rPr lang="en-US" altLang="ko-KR" sz="1400" dirty="0"/>
              <a:t>LMS(Learning Management System, </a:t>
            </a:r>
            <a:r>
              <a:rPr lang="ko-KR" altLang="en-US" sz="1400" dirty="0"/>
              <a:t>학습 관리 시스템</a:t>
            </a:r>
            <a:r>
              <a:rPr lang="en-US" altLang="ko-KR" sz="1400" dirty="0"/>
              <a:t>)**</a:t>
            </a:r>
            <a:r>
              <a:rPr lang="ko-KR" altLang="en-US" sz="1400" dirty="0"/>
              <a:t>와의 연동을 통해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en-US" sz="1400" dirty="0"/>
              <a:t>공식적인 강의 자료 뷰어로 채택되도록 제안합니다</a:t>
            </a:r>
            <a:r>
              <a:rPr lang="en-US" altLang="ko-KR" sz="1400" dirty="0"/>
              <a:t>.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en-US" sz="1400" dirty="0"/>
              <a:t>이는 가장 안정적이고 대규모의 사용자 유입 경로가 될 수 있습니다</a:t>
            </a:r>
            <a:r>
              <a:rPr lang="en-US" altLang="ko-KR" sz="1400" dirty="0"/>
              <a:t>.</a:t>
            </a:r>
            <a:endParaRPr lang="ko-KR" altLang="ko-KR" sz="8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800" b="1" dirty="0" err="1"/>
              <a:t>인플루언서</a:t>
            </a:r>
            <a:r>
              <a:rPr lang="en-US" altLang="ko-KR" sz="1800" b="1" dirty="0"/>
              <a:t>/</a:t>
            </a:r>
            <a:r>
              <a:rPr lang="ko-KR" altLang="en-US" sz="1800" b="1" dirty="0"/>
              <a:t>커뮤니티 마케팅</a:t>
            </a:r>
            <a:r>
              <a:rPr lang="en-US" altLang="ko-KR" sz="1800" b="1" dirty="0"/>
              <a:t>: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	</a:t>
            </a:r>
            <a:r>
              <a:rPr lang="ko-KR" altLang="en-US" sz="1400" dirty="0"/>
              <a:t>대학생 </a:t>
            </a:r>
            <a:r>
              <a:rPr lang="ko-KR" altLang="en-US" sz="1400" dirty="0" err="1"/>
              <a:t>유튜버</a:t>
            </a:r>
            <a:r>
              <a:rPr lang="en-US" altLang="ko-KR" sz="1400" dirty="0"/>
              <a:t>, </a:t>
            </a:r>
            <a:r>
              <a:rPr lang="ko-KR" altLang="en-US" sz="1400" dirty="0"/>
              <a:t>인스타그램</a:t>
            </a:r>
            <a:r>
              <a:rPr lang="en-US" altLang="ko-KR" sz="1400" dirty="0"/>
              <a:t>, </a:t>
            </a:r>
            <a:r>
              <a:rPr lang="ko-KR" altLang="en-US" sz="1400" dirty="0"/>
              <a:t>대학생 익명 커뮤니티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에브리타임</a:t>
            </a:r>
            <a:r>
              <a:rPr lang="ko-KR" altLang="en-US" sz="1400" dirty="0"/>
              <a:t> 등</a:t>
            </a:r>
            <a:r>
              <a:rPr lang="en-US" altLang="ko-KR" sz="1400" dirty="0"/>
              <a:t>)</a:t>
            </a:r>
            <a:r>
              <a:rPr lang="ko-KR" altLang="en-US" sz="1400" dirty="0"/>
              <a:t>에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en-US" sz="1400" dirty="0"/>
              <a:t>사용 후기 및 바이럴 마케팅을 진행하여 신뢰도를 구축합니다</a:t>
            </a:r>
            <a:r>
              <a:rPr lang="en-US" altLang="ko-KR" sz="1400" dirty="0"/>
              <a:t>.</a:t>
            </a:r>
            <a:endParaRPr lang="ko-KR" altLang="ko-KR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17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F00C-169F-8E56-4368-1C4EF09F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ED4E0-B552-1AD6-6912-C61D4FAA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818"/>
            <a:ext cx="10515600" cy="1325563"/>
          </a:xfrm>
        </p:spPr>
        <p:txBody>
          <a:bodyPr/>
          <a:lstStyle/>
          <a:p>
            <a:r>
              <a:rPr lang="ko-KR" altLang="en-US" dirty="0"/>
              <a:t>🛠️ 기술 개발 방향 </a:t>
            </a:r>
            <a:r>
              <a:rPr lang="en-US" altLang="ko-KR" sz="2000" dirty="0"/>
              <a:t>(Specific Technical Development)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377ED-33C7-2E4E-9F4C-DC7EFFFA7E88}"/>
              </a:ext>
            </a:extLst>
          </p:cNvPr>
          <p:cNvSpPr txBox="1"/>
          <p:nvPr/>
        </p:nvSpPr>
        <p:spPr>
          <a:xfrm>
            <a:off x="0" y="1365381"/>
            <a:ext cx="84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🔍 초기 문서화 및 기본 구조 확립 </a:t>
            </a:r>
            <a:r>
              <a:rPr lang="en-US" altLang="ko-KR" b="1" dirty="0"/>
              <a:t>(Addressing Past Failures)</a:t>
            </a:r>
            <a:endParaRPr lang="ko-KR" alt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902B46-8C4F-CEE4-16C4-A6FD47AF5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724" y="2697183"/>
            <a:ext cx="10276551" cy="3006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800" b="1" dirty="0"/>
              <a:t>업무 분석서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요구사항 정의</a:t>
            </a:r>
            <a:r>
              <a:rPr lang="en-US" altLang="ko-KR" sz="1800" b="1" dirty="0"/>
              <a:t>):</a:t>
            </a:r>
            <a:br>
              <a:rPr lang="en-US" altLang="ko-KR" sz="1200" dirty="0">
                <a:latin typeface="Arial" panose="020B0604020202020204" pitchFamily="34" charset="0"/>
              </a:rPr>
            </a:br>
            <a:r>
              <a:rPr lang="en-US" altLang="ko-KR" sz="1200" dirty="0">
                <a:latin typeface="Arial" panose="020B0604020202020204" pitchFamily="34" charset="0"/>
              </a:rPr>
              <a:t>	</a:t>
            </a:r>
            <a:r>
              <a:rPr lang="ko-KR" altLang="en-US" sz="1400" dirty="0"/>
              <a:t>대상자</a:t>
            </a:r>
            <a:r>
              <a:rPr lang="en-US" altLang="ko-KR" sz="1400" dirty="0"/>
              <a:t>(</a:t>
            </a:r>
            <a:r>
              <a:rPr lang="ko-KR" altLang="en-US" sz="1400" dirty="0"/>
              <a:t>대학생</a:t>
            </a:r>
            <a:r>
              <a:rPr lang="en-US" altLang="ko-KR" sz="1400" dirty="0"/>
              <a:t>)</a:t>
            </a:r>
            <a:r>
              <a:rPr lang="ko-KR" altLang="en-US" sz="1400" dirty="0"/>
              <a:t>의 모든 불편 사항</a:t>
            </a:r>
            <a:r>
              <a:rPr lang="en-US" altLang="ko-KR" sz="1400" dirty="0"/>
              <a:t>(PDF</a:t>
            </a:r>
            <a:r>
              <a:rPr lang="ko-KR" altLang="en-US" sz="1400" dirty="0"/>
              <a:t>의 고정 레이아웃</a:t>
            </a:r>
            <a:r>
              <a:rPr lang="en-US" altLang="ko-KR" sz="1400" dirty="0"/>
              <a:t>, </a:t>
            </a:r>
            <a:r>
              <a:rPr lang="ko-KR" altLang="en-US" sz="1400" dirty="0"/>
              <a:t>작은 폰트</a:t>
            </a:r>
            <a:r>
              <a:rPr lang="en-US" altLang="ko-KR" sz="1400" dirty="0"/>
              <a:t>, </a:t>
            </a:r>
            <a:r>
              <a:rPr lang="ko-KR" altLang="en-US" sz="1400" dirty="0"/>
              <a:t>필기 미흡 등</a:t>
            </a:r>
            <a:r>
              <a:rPr lang="en-US" altLang="ko-KR" sz="1400" dirty="0"/>
              <a:t>)</a:t>
            </a:r>
            <a:r>
              <a:rPr lang="ko-KR" altLang="en-US" sz="1400" dirty="0"/>
              <a:t>을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en-US" sz="1400" dirty="0"/>
              <a:t>기능 요구사항으로 명확하게 정의합니다</a:t>
            </a:r>
            <a:r>
              <a:rPr lang="en-US" altLang="ko-KR" sz="1400" dirty="0"/>
              <a:t>.</a:t>
            </a:r>
          </a:p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800" b="1" dirty="0"/>
              <a:t>개발 기획서 </a:t>
            </a:r>
            <a:r>
              <a:rPr lang="en-US" altLang="ko-KR" sz="1800" b="1" dirty="0"/>
              <a:t>(MVP </a:t>
            </a:r>
            <a:r>
              <a:rPr lang="ko-KR" altLang="en-US" sz="1800" b="1" dirty="0"/>
              <a:t>정의</a:t>
            </a:r>
            <a:r>
              <a:rPr lang="en-US" altLang="ko-KR" sz="1800" b="1" dirty="0"/>
              <a:t>):</a:t>
            </a:r>
            <a:r>
              <a:rPr lang="en-US" altLang="ko-KR" sz="1400" dirty="0">
                <a:latin typeface="Arial" panose="020B0604020202020204" pitchFamily="34" charset="0"/>
              </a:rPr>
              <a:t>	</a:t>
            </a:r>
            <a:br>
              <a:rPr lang="en-US" altLang="ko-KR" sz="1400" dirty="0">
                <a:latin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ko-KR" altLang="en-US" sz="1400" dirty="0"/>
              <a:t>핵심 기능</a:t>
            </a:r>
            <a:r>
              <a:rPr lang="en-US" altLang="ko-KR" sz="1400" dirty="0"/>
              <a:t>(PDF </a:t>
            </a:r>
            <a:r>
              <a:rPr lang="ko-KR" altLang="en-US" sz="1400" dirty="0"/>
              <a:t>자동 최적화</a:t>
            </a:r>
            <a:r>
              <a:rPr lang="en-US" altLang="ko-KR" sz="1400" dirty="0"/>
              <a:t>)</a:t>
            </a:r>
            <a:r>
              <a:rPr lang="ko-KR" altLang="en-US" sz="1400" dirty="0"/>
              <a:t>을 중심으로 </a:t>
            </a:r>
            <a:r>
              <a:rPr lang="en-US" altLang="ko-KR" sz="1400" b="1" dirty="0"/>
              <a:t>MVP(Minimum Viable Product)</a:t>
            </a:r>
            <a:r>
              <a:rPr lang="ko-KR" altLang="en-US" sz="1400" dirty="0"/>
              <a:t> 범위를 설정합니다</a:t>
            </a:r>
            <a:r>
              <a:rPr lang="en-US" altLang="ko-KR" sz="1400" dirty="0"/>
              <a:t>.</a:t>
            </a:r>
            <a:endParaRPr lang="ko-KR" altLang="ko-KR" sz="8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800" b="1" dirty="0"/>
              <a:t>개발 설계서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기술 스택</a:t>
            </a:r>
            <a:r>
              <a:rPr lang="en-US" altLang="ko-KR" sz="1800" b="1" dirty="0"/>
              <a:t>):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	</a:t>
            </a:r>
            <a:r>
              <a:rPr lang="ko-KR" altLang="en-US" sz="1400" dirty="0"/>
              <a:t>모바일 앱 개발</a:t>
            </a:r>
            <a:r>
              <a:rPr lang="en-US" altLang="ko-KR" sz="1400" dirty="0"/>
              <a:t>(iOS/Android </a:t>
            </a:r>
            <a:r>
              <a:rPr lang="ko-KR" altLang="en-US" sz="1400" dirty="0"/>
              <a:t>네이티브 또는 </a:t>
            </a:r>
            <a:r>
              <a:rPr lang="en-US" altLang="ko-KR" sz="1400" dirty="0"/>
              <a:t>React Native/Flutter),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en-US" sz="1400" dirty="0" err="1"/>
              <a:t>백엔드</a:t>
            </a:r>
            <a:r>
              <a:rPr lang="ko-KR" altLang="en-US" sz="1400" dirty="0"/>
              <a:t> 서버 언어</a:t>
            </a:r>
            <a:r>
              <a:rPr lang="en-US" altLang="ko-KR" sz="1400" dirty="0"/>
              <a:t>(Node.js, Python/Django </a:t>
            </a:r>
            <a:r>
              <a:rPr lang="ko-KR" altLang="en-US" sz="1400" dirty="0"/>
              <a:t>등</a:t>
            </a:r>
            <a:r>
              <a:rPr lang="en-US" altLang="ko-KR" sz="1400" dirty="0"/>
              <a:t>), PDF </a:t>
            </a:r>
            <a:r>
              <a:rPr lang="ko-KR" altLang="en-US" sz="1400" dirty="0"/>
              <a:t>처리 라이브러리 등을 미리 결정합니다</a:t>
            </a:r>
            <a:r>
              <a:rPr lang="en-US" altLang="ko-KR" sz="1400" dirty="0"/>
              <a:t>.</a:t>
            </a:r>
            <a:endParaRPr lang="ko-KR" altLang="ko-KR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72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A286F-3A4F-21C1-0CBB-62C9B8D8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98DD8-AE1C-6E7C-6FB1-4A3630F8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818"/>
            <a:ext cx="10515600" cy="1325563"/>
          </a:xfrm>
        </p:spPr>
        <p:txBody>
          <a:bodyPr/>
          <a:lstStyle/>
          <a:p>
            <a:r>
              <a:rPr lang="ko-KR" altLang="en-US" dirty="0"/>
              <a:t>🛠️ 기술 개발 방향 </a:t>
            </a:r>
            <a:r>
              <a:rPr lang="en-US" altLang="ko-KR" sz="2000" dirty="0"/>
              <a:t>(Specific Technical Development)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87F30-10B2-9A5A-1DB3-B185B49A9C92}"/>
              </a:ext>
            </a:extLst>
          </p:cNvPr>
          <p:cNvSpPr txBox="1"/>
          <p:nvPr/>
        </p:nvSpPr>
        <p:spPr>
          <a:xfrm>
            <a:off x="0" y="1365381"/>
            <a:ext cx="84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📱 모바일 최적화</a:t>
            </a:r>
            <a:r>
              <a:rPr lang="en-US" altLang="ko-KR" b="1" dirty="0"/>
              <a:t>/UI/UX </a:t>
            </a:r>
            <a:r>
              <a:rPr lang="ko-KR" altLang="en-US" b="1" dirty="0"/>
              <a:t>디자인 </a:t>
            </a:r>
            <a:r>
              <a:rPr lang="en-US" altLang="ko-KR" b="1" dirty="0"/>
              <a:t>(Design &amp; Front-End)</a:t>
            </a:r>
            <a:endParaRPr lang="ko-KR" alt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E3285BB-8B36-C70B-22B7-23CE1DBB6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724" y="1796937"/>
            <a:ext cx="10276551" cy="480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b="1" dirty="0"/>
              <a:t>반응형 리플로우 </a:t>
            </a:r>
            <a:r>
              <a:rPr lang="en-US" altLang="ko-KR" sz="1800" b="1" dirty="0"/>
              <a:t>(Responsive Reflow):</a:t>
            </a:r>
            <a:br>
              <a:rPr lang="en-US" altLang="ko-KR" sz="1800" dirty="0"/>
            </a:br>
            <a:r>
              <a:rPr lang="en-US" altLang="ko-KR" sz="1200" dirty="0">
                <a:latin typeface="Arial" panose="020B0604020202020204" pitchFamily="34" charset="0"/>
              </a:rPr>
              <a:t>	</a:t>
            </a:r>
            <a:r>
              <a:rPr lang="en-US" altLang="ko-KR" sz="1400" dirty="0"/>
              <a:t>PDF </a:t>
            </a:r>
            <a:r>
              <a:rPr lang="ko-KR" altLang="en-US" sz="1400" dirty="0"/>
              <a:t>문서를 </a:t>
            </a:r>
            <a:r>
              <a:rPr lang="en-US" altLang="ko-KR" sz="1400" b="1" dirty="0"/>
              <a:t>HTML</a:t>
            </a:r>
            <a:r>
              <a:rPr lang="ko-KR" altLang="en-US" sz="1400" dirty="0"/>
              <a:t>이나 </a:t>
            </a:r>
            <a:r>
              <a:rPr lang="en-US" altLang="ko-KR" sz="1400" b="1" dirty="0"/>
              <a:t>EPUB</a:t>
            </a:r>
            <a:r>
              <a:rPr lang="ko-KR" altLang="en-US" sz="1400" dirty="0"/>
              <a:t>과 같은 유연한 형식으로 변환</a:t>
            </a:r>
            <a:r>
              <a:rPr lang="en-US" altLang="ko-KR" sz="1400" dirty="0"/>
              <a:t>/</a:t>
            </a:r>
            <a:r>
              <a:rPr lang="ko-KR" altLang="en-US" sz="1400" dirty="0"/>
              <a:t>렌더링하여 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en-US" sz="1400" dirty="0"/>
              <a:t>좁은 모바일 화면에서도 텍스트가 자동으로 재배열되고</a:t>
            </a:r>
            <a:r>
              <a:rPr lang="en-US" altLang="ko-KR" sz="1400" dirty="0"/>
              <a:t>(</a:t>
            </a:r>
            <a:r>
              <a:rPr lang="ko-KR" altLang="en-US" sz="1400" dirty="0"/>
              <a:t>텍스트 리플로우</a:t>
            </a:r>
            <a:r>
              <a:rPr lang="en-US" altLang="ko-KR" sz="1400" dirty="0"/>
              <a:t>), </a:t>
            </a:r>
            <a:r>
              <a:rPr lang="ko-KR" altLang="en-US" sz="1400" dirty="0"/>
              <a:t>폰트 크기가 조정되도록 구현합니다</a:t>
            </a:r>
            <a:r>
              <a:rPr lang="en-US" altLang="ko-KR" sz="1400" dirty="0"/>
              <a:t>.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600" b="1" dirty="0"/>
              <a:t>핵심 기술</a:t>
            </a:r>
            <a:r>
              <a:rPr lang="en-US" altLang="ko-KR" sz="1600" b="1" dirty="0"/>
              <a:t>:</a:t>
            </a:r>
            <a:r>
              <a:rPr lang="ko-KR" altLang="en-US" sz="1600" dirty="0"/>
              <a:t> </a:t>
            </a:r>
            <a:br>
              <a:rPr lang="en-US" altLang="ko-KR" sz="1600" dirty="0"/>
            </a:br>
            <a:r>
              <a:rPr lang="en-US" altLang="ko-KR" sz="1600" dirty="0"/>
              <a:t>	PDF </a:t>
            </a:r>
            <a:r>
              <a:rPr lang="ko-KR" altLang="en-US" sz="1600" dirty="0"/>
              <a:t>파싱 라이브러리</a:t>
            </a:r>
            <a:r>
              <a:rPr lang="en-US" altLang="ko-KR" sz="1600" dirty="0"/>
              <a:t>(Poppler, PDF.js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를 사용하여 텍스트와 이미지 레이아웃을 분리하고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en-US" altLang="ko-KR" sz="1600" dirty="0"/>
              <a:t>	</a:t>
            </a:r>
            <a:r>
              <a:rPr lang="ko-KR" altLang="en-US" sz="1600" dirty="0"/>
              <a:t>이를 </a:t>
            </a:r>
            <a:r>
              <a:rPr lang="en-US" altLang="ko-KR" sz="1600" dirty="0"/>
              <a:t>CSS</a:t>
            </a:r>
            <a:r>
              <a:rPr lang="ko-KR" altLang="en-US" sz="1600" dirty="0"/>
              <a:t>를 통해 모바일 너비에 맞게 </a:t>
            </a:r>
            <a:r>
              <a:rPr lang="ko-KR" altLang="en-US" sz="1600" dirty="0" err="1"/>
              <a:t>스타일링합니다</a:t>
            </a:r>
            <a:r>
              <a:rPr lang="en-US" altLang="ko-KR" sz="1600" dirty="0"/>
              <a:t>.</a:t>
            </a:r>
          </a:p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b="1" dirty="0"/>
              <a:t>연속 스크롤 </a:t>
            </a:r>
            <a:r>
              <a:rPr lang="en-US" altLang="ko-KR" sz="1800" b="1" dirty="0"/>
              <a:t>(Continuous Scroll):</a:t>
            </a:r>
            <a:r>
              <a:rPr lang="en-US" altLang="ko-KR" sz="1400" dirty="0">
                <a:latin typeface="Arial" panose="020B0604020202020204" pitchFamily="34" charset="0"/>
              </a:rPr>
              <a:t>	</a:t>
            </a:r>
            <a:br>
              <a:rPr lang="en-US" altLang="ko-KR" sz="1400" dirty="0">
                <a:latin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en-US" altLang="ko-KR" sz="1400" dirty="0"/>
              <a:t>PDF</a:t>
            </a:r>
            <a:r>
              <a:rPr lang="ko-KR" altLang="en-US" sz="1400" dirty="0"/>
              <a:t>의 페이지 지향적인 불편함을 해소하기 위해</a:t>
            </a:r>
            <a:r>
              <a:rPr lang="en-US" altLang="ko-KR" sz="1400" dirty="0"/>
              <a:t>, </a:t>
            </a:r>
            <a:r>
              <a:rPr lang="ko-KR" altLang="en-US" sz="1400" dirty="0"/>
              <a:t>휴대폰에서 선호하는 </a:t>
            </a:r>
            <a:r>
              <a:rPr lang="ko-KR" altLang="en-US" sz="1400" b="1" dirty="0"/>
              <a:t>연속적인 수직 스크롤</a:t>
            </a:r>
            <a:r>
              <a:rPr lang="ko-KR" altLang="en-US" sz="1400" dirty="0"/>
              <a:t> 방식으로 전환합니다</a:t>
            </a:r>
            <a:r>
              <a:rPr lang="en-US" altLang="ko-KR" sz="1400" dirty="0"/>
              <a:t>.</a:t>
            </a:r>
          </a:p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ko-KR" altLang="ko-KR" sz="8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1800" b="1" dirty="0">
                <a:latin typeface="Arial" panose="020B0604020202020204" pitchFamily="34" charset="0"/>
              </a:rPr>
              <a:t>터치 친화적인 UI/UX:</a:t>
            </a:r>
            <a:endParaRPr lang="ko-KR" altLang="ko-KR" sz="1800" dirty="0">
              <a:latin typeface="Arial" panose="020B0604020202020204" pitchFamily="34" charset="0"/>
            </a:endParaRP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1600" b="1" dirty="0">
                <a:latin typeface="Arial" panose="020B0604020202020204" pitchFamily="34" charset="0"/>
              </a:rPr>
              <a:t>간결한 UI: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400" dirty="0">
                <a:latin typeface="Arial" panose="020B0604020202020204" pitchFamily="34" charset="0"/>
              </a:rPr>
              <a:t>헤더, 각주, 사이드바 등 불필요한 UI 요소를 숨기거나 최소화하여 </a:t>
            </a:r>
            <a:br>
              <a:rPr lang="en-US" altLang="ko-KR" sz="1400" dirty="0">
                <a:latin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ko-KR" altLang="ko-KR" sz="1400" dirty="0">
                <a:latin typeface="Arial" panose="020B0604020202020204" pitchFamily="34" charset="0"/>
              </a:rPr>
              <a:t>귀중한 화면 공간을 확보합니다.</a:t>
            </a: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1600" b="1" dirty="0">
                <a:latin typeface="Arial" panose="020B0604020202020204" pitchFamily="34" charset="0"/>
              </a:rPr>
              <a:t>쉬운 탐색: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r>
              <a:rPr lang="ko-KR" altLang="ko-KR" sz="1400" dirty="0">
                <a:latin typeface="Arial" panose="020B0604020202020204" pitchFamily="34" charset="0"/>
              </a:rPr>
              <a:t>확대/축소/이동(핀치/드래그) 없이 한 손가락 스크롤만으로 읽을 수 있도록 하고, </a:t>
            </a:r>
            <a:br>
              <a:rPr lang="en-US" altLang="ko-KR" sz="1400" dirty="0">
                <a:latin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ko-KR" altLang="ko-KR" sz="1400" b="1" dirty="0">
                <a:latin typeface="Arial" panose="020B0604020202020204" pitchFamily="34" charset="0"/>
              </a:rPr>
              <a:t>내부 링크/목차 기능을 완벽히 구현</a:t>
            </a:r>
            <a:r>
              <a:rPr lang="ko-KR" altLang="ko-KR" sz="1400" dirty="0">
                <a:latin typeface="Arial" panose="020B0604020202020204" pitchFamily="34" charset="0"/>
              </a:rPr>
              <a:t>하여 원하는 파트로 즉시 이동할 수 있게 합니다.</a:t>
            </a:r>
            <a:endParaRPr lang="ko-KR" altLang="ko-KR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8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AF676-CD35-2408-D016-A592A28C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5DE10-DB60-500A-3172-5D4D0C03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818"/>
            <a:ext cx="10515600" cy="1325563"/>
          </a:xfrm>
        </p:spPr>
        <p:txBody>
          <a:bodyPr/>
          <a:lstStyle/>
          <a:p>
            <a:r>
              <a:rPr lang="ko-KR" altLang="en-US" dirty="0"/>
              <a:t>🛠️ 기술 개발 방향 </a:t>
            </a:r>
            <a:r>
              <a:rPr lang="en-US" altLang="ko-KR" sz="2000" dirty="0"/>
              <a:t>(Specific Technical Development)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2673A-BEA4-CB28-060B-FE45B899F5FF}"/>
              </a:ext>
            </a:extLst>
          </p:cNvPr>
          <p:cNvSpPr txBox="1"/>
          <p:nvPr/>
        </p:nvSpPr>
        <p:spPr>
          <a:xfrm>
            <a:off x="0" y="1365381"/>
            <a:ext cx="84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🧠 핵심 기능 및 학습 도구 구현 </a:t>
            </a:r>
            <a:r>
              <a:rPr lang="en-US" altLang="ko-KR" b="1" dirty="0"/>
              <a:t>(Core Features &amp; Learning Tools)</a:t>
            </a:r>
            <a:endParaRPr lang="ko-KR" alt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CDD491B-4171-F669-B48D-5F58F4BFF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724" y="2018344"/>
            <a:ext cx="10276551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b="1" dirty="0"/>
              <a:t>고급 주석</a:t>
            </a:r>
            <a:r>
              <a:rPr lang="en-US" altLang="ko-KR" sz="1800" b="1" dirty="0"/>
              <a:t>/</a:t>
            </a:r>
            <a:r>
              <a:rPr lang="ko-KR" altLang="en-US" sz="1800" b="1" dirty="0"/>
              <a:t>필기 기능</a:t>
            </a:r>
            <a:r>
              <a:rPr lang="en-US" altLang="ko-KR" sz="1800" b="1" dirty="0"/>
              <a:t>: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	</a:t>
            </a:r>
            <a:r>
              <a:rPr lang="ko-KR" altLang="en-US" sz="1400" b="1" dirty="0"/>
              <a:t>터치 기반의 강조 표시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하이라이트</a:t>
            </a:r>
            <a:r>
              <a:rPr lang="en-US" altLang="ko-KR" sz="1400" b="1" dirty="0"/>
              <a:t>), </a:t>
            </a:r>
            <a:r>
              <a:rPr lang="ko-KR" altLang="en-US" sz="1400" b="1" dirty="0"/>
              <a:t>메모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손가락 필기</a:t>
            </a:r>
            <a:r>
              <a:rPr lang="ko-KR" altLang="en-US" sz="1400" dirty="0"/>
              <a:t> 기능이 앱과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en-US" sz="1400" dirty="0"/>
              <a:t>기기 간에 </a:t>
            </a:r>
            <a:r>
              <a:rPr lang="ko-KR" altLang="en-US" sz="1400" b="1" dirty="0"/>
              <a:t>일관되게 작동하며 동기화</a:t>
            </a:r>
            <a:r>
              <a:rPr lang="ko-KR" altLang="en-US" sz="1400" dirty="0"/>
              <a:t>되도록 구현합니다</a:t>
            </a:r>
            <a:r>
              <a:rPr lang="en-US" altLang="ko-KR" sz="1400" dirty="0"/>
              <a:t>.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1800" b="1" dirty="0">
                <a:latin typeface="Arial" panose="020B0604020202020204" pitchFamily="34" charset="0"/>
              </a:rPr>
              <a:t>성능 최적화:</a:t>
            </a:r>
            <a:endParaRPr lang="en-US" altLang="ko-KR" sz="1800" b="1" dirty="0">
              <a:latin typeface="Arial" panose="020B0604020202020204" pitchFamily="34" charset="0"/>
            </a:endParaRPr>
          </a:p>
          <a:p>
            <a:pPr marL="914400" lvl="2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ko-KR" sz="1000" b="1" dirty="0">
                <a:latin typeface="Arial" panose="020B0604020202020204" pitchFamily="34" charset="0"/>
              </a:rPr>
            </a:br>
            <a:r>
              <a:rPr lang="ko-KR" altLang="ko-KR" sz="1600" b="1" dirty="0">
                <a:latin typeface="Arial" panose="020B0604020202020204" pitchFamily="34" charset="0"/>
              </a:rPr>
              <a:t>압축 및 선형화: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br>
              <a:rPr lang="en-US" altLang="ko-KR" sz="1600" dirty="0">
                <a:latin typeface="Arial" panose="020B0604020202020204" pitchFamily="34" charset="0"/>
              </a:rPr>
            </a:br>
            <a:r>
              <a:rPr lang="en-US" altLang="ko-KR" sz="1600" dirty="0">
                <a:latin typeface="Arial" panose="020B0604020202020204" pitchFamily="34" charset="0"/>
              </a:rPr>
              <a:t>	</a:t>
            </a:r>
            <a:r>
              <a:rPr lang="ko-KR" altLang="ko-KR" sz="1400" dirty="0">
                <a:latin typeface="Arial" panose="020B0604020202020204" pitchFamily="34" charset="0"/>
              </a:rPr>
              <a:t>큰 PDF 파일을 모바일에서 빠르게 다운로드하고 열 수 있도록 </a:t>
            </a:r>
            <a:r>
              <a:rPr lang="ko-KR" altLang="ko-KR" sz="1400" b="1" dirty="0">
                <a:latin typeface="Arial" panose="020B0604020202020204" pitchFamily="34" charset="0"/>
              </a:rPr>
              <a:t>이미지를 </a:t>
            </a:r>
            <a:r>
              <a:rPr lang="ko-KR" altLang="ko-KR" sz="1400" b="1" dirty="0" err="1">
                <a:latin typeface="Arial" panose="020B0604020202020204" pitchFamily="34" charset="0"/>
              </a:rPr>
              <a:t>다운샘플링</a:t>
            </a:r>
            <a:r>
              <a:rPr lang="ko-KR" altLang="ko-KR" sz="1400" dirty="0" err="1">
                <a:latin typeface="Arial" panose="020B0604020202020204" pitchFamily="34" charset="0"/>
              </a:rPr>
              <a:t>하고</a:t>
            </a:r>
            <a:r>
              <a:rPr lang="ko-KR" altLang="ko-KR" sz="1400" dirty="0">
                <a:latin typeface="Arial" panose="020B0604020202020204" pitchFamily="34" charset="0"/>
              </a:rPr>
              <a:t>, </a:t>
            </a:r>
            <a:br>
              <a:rPr lang="en-US" altLang="ko-KR" sz="1400" dirty="0">
                <a:latin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</a:rPr>
              <a:t>	</a:t>
            </a:r>
            <a:r>
              <a:rPr lang="ko-KR" altLang="ko-KR" sz="1400" dirty="0">
                <a:latin typeface="Arial" panose="020B0604020202020204" pitchFamily="34" charset="0"/>
              </a:rPr>
              <a:t>글꼴을 최적화하며, </a:t>
            </a:r>
            <a:r>
              <a:rPr lang="ko-KR" altLang="ko-KR" sz="1400" dirty="0" err="1">
                <a:latin typeface="Arial" panose="020B0604020202020204" pitchFamily="34" charset="0"/>
              </a:rPr>
              <a:t>PDF를</a:t>
            </a:r>
            <a:r>
              <a:rPr lang="ko-KR" altLang="ko-KR" sz="1400" dirty="0">
                <a:latin typeface="Arial" panose="020B0604020202020204" pitchFamily="34" charset="0"/>
              </a:rPr>
              <a:t> </a:t>
            </a:r>
            <a:r>
              <a:rPr lang="ko-KR" altLang="ko-KR" sz="1400" dirty="0" err="1">
                <a:latin typeface="Arial" panose="020B0604020202020204" pitchFamily="34" charset="0"/>
              </a:rPr>
              <a:t>선형화합니다</a:t>
            </a:r>
            <a:r>
              <a:rPr lang="ko-KR" altLang="ko-KR" sz="1400" dirty="0">
                <a:latin typeface="Arial" panose="020B0604020202020204" pitchFamily="34" charset="0"/>
              </a:rPr>
              <a:t>.</a:t>
            </a:r>
            <a:br>
              <a:rPr lang="en-US" altLang="ko-KR" sz="1400" dirty="0">
                <a:latin typeface="Arial" panose="020B0604020202020204" pitchFamily="34" charset="0"/>
              </a:rPr>
            </a:br>
            <a:r>
              <a:rPr lang="ko-KR" altLang="ko-KR" sz="1600" b="1" dirty="0">
                <a:latin typeface="Arial" panose="020B0604020202020204" pitchFamily="34" charset="0"/>
              </a:rPr>
              <a:t>부분 로딩:</a:t>
            </a:r>
            <a:r>
              <a:rPr lang="ko-KR" altLang="ko-KR" sz="1600" dirty="0">
                <a:latin typeface="Arial" panose="020B0604020202020204" pitchFamily="34" charset="0"/>
              </a:rPr>
              <a:t> </a:t>
            </a:r>
            <a:br>
              <a:rPr lang="en-US" altLang="ko-KR" sz="1600" dirty="0">
                <a:latin typeface="Arial" panose="020B0604020202020204" pitchFamily="34" charset="0"/>
              </a:rPr>
            </a:br>
            <a:r>
              <a:rPr lang="en-US" altLang="ko-KR" sz="1600" dirty="0">
                <a:latin typeface="Arial" panose="020B0604020202020204" pitchFamily="34" charset="0"/>
              </a:rPr>
              <a:t>	</a:t>
            </a:r>
            <a:r>
              <a:rPr lang="ko-KR" altLang="ko-KR" sz="1400" dirty="0">
                <a:latin typeface="Arial" panose="020B0604020202020204" pitchFamily="34" charset="0"/>
              </a:rPr>
              <a:t>전체 파일을 </a:t>
            </a:r>
            <a:r>
              <a:rPr lang="ko-KR" altLang="ko-KR" sz="1400" dirty="0" err="1">
                <a:latin typeface="Arial" panose="020B0604020202020204" pitchFamily="34" charset="0"/>
              </a:rPr>
              <a:t>로드하는</a:t>
            </a:r>
            <a:r>
              <a:rPr lang="ko-KR" altLang="ko-KR" sz="1400" dirty="0">
                <a:latin typeface="Arial" panose="020B0604020202020204" pitchFamily="34" charset="0"/>
              </a:rPr>
              <a:t> 대신, 사용자가 현재 보고 있는 페이지만 </a:t>
            </a:r>
            <a:r>
              <a:rPr lang="ko-KR" altLang="ko-KR" sz="1400" dirty="0" err="1">
                <a:latin typeface="Arial" panose="020B0604020202020204" pitchFamily="34" charset="0"/>
              </a:rPr>
              <a:t>로드하여</a:t>
            </a:r>
            <a:r>
              <a:rPr lang="ko-KR" altLang="ko-KR" sz="1400" dirty="0">
                <a:latin typeface="Arial" panose="020B0604020202020204" pitchFamily="34" charset="0"/>
              </a:rPr>
              <a:t> </a:t>
            </a:r>
            <a:r>
              <a:rPr lang="ko-KR" altLang="ko-KR" sz="1400" b="1" dirty="0">
                <a:latin typeface="Arial" panose="020B0604020202020204" pitchFamily="34" charset="0"/>
              </a:rPr>
              <a:t>렌더링 부하</a:t>
            </a:r>
            <a:r>
              <a:rPr lang="ko-KR" altLang="ko-KR" sz="1400" dirty="0">
                <a:latin typeface="Arial" panose="020B0604020202020204" pitchFamily="34" charset="0"/>
              </a:rPr>
              <a:t>를 줄입니다.</a:t>
            </a:r>
            <a:endParaRPr lang="ko-KR" altLang="ko-KR" sz="800" dirty="0">
              <a:latin typeface="Arial" panose="020B0604020202020204" pitchFamily="34" charset="0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b="1" dirty="0"/>
              <a:t>OCR </a:t>
            </a:r>
            <a:r>
              <a:rPr lang="ko-KR" altLang="en-US" sz="1800" b="1" dirty="0"/>
              <a:t>및 검색</a:t>
            </a:r>
            <a:r>
              <a:rPr lang="en-US" altLang="ko-KR" sz="1800" b="1" dirty="0"/>
              <a:t>: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		</a:t>
            </a:r>
            <a:r>
              <a:rPr lang="ko-KR" altLang="en-US" sz="1400" dirty="0"/>
              <a:t>스캔한 </a:t>
            </a:r>
            <a:r>
              <a:rPr lang="en-US" altLang="ko-KR" sz="1400" dirty="0"/>
              <a:t>PDF </a:t>
            </a:r>
            <a:r>
              <a:rPr lang="ko-KR" altLang="en-US" sz="1400" dirty="0"/>
              <a:t>이미지 파일의 텍스트를 인식</a:t>
            </a:r>
            <a:r>
              <a:rPr lang="en-US" altLang="ko-KR" sz="1400" dirty="0"/>
              <a:t>(OCR)</a:t>
            </a:r>
            <a:r>
              <a:rPr lang="ko-KR" altLang="en-US" sz="1400" dirty="0"/>
              <a:t>하고 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en-US" altLang="ko-KR" sz="1400" dirty="0"/>
              <a:t>		</a:t>
            </a:r>
            <a:r>
              <a:rPr lang="ko-KR" altLang="en-US" sz="1400" dirty="0"/>
              <a:t>검색 및 텍스트 추출</a:t>
            </a:r>
            <a:r>
              <a:rPr lang="en-US" altLang="ko-KR" sz="1400" dirty="0"/>
              <a:t>/</a:t>
            </a:r>
            <a:r>
              <a:rPr lang="ko-KR" altLang="en-US" sz="1400" dirty="0"/>
              <a:t>복사 기능의 정확도를 높입니다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en-US" altLang="ko-KR" sz="1400" dirty="0"/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b="1" dirty="0"/>
              <a:t>AI </a:t>
            </a:r>
            <a:r>
              <a:rPr lang="ko-KR" altLang="en-US" sz="1800" b="1" dirty="0"/>
              <a:t>기능 추가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차별화</a:t>
            </a:r>
            <a:r>
              <a:rPr lang="en-US" altLang="ko-KR" sz="1800" b="1" dirty="0"/>
              <a:t>):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		</a:t>
            </a:r>
            <a:r>
              <a:rPr lang="ko-KR" altLang="en-US" sz="1400" dirty="0"/>
              <a:t>강의 자료 요약</a:t>
            </a:r>
            <a:r>
              <a:rPr lang="en-US" altLang="ko-KR" sz="1400" dirty="0"/>
              <a:t>, </a:t>
            </a:r>
            <a:r>
              <a:rPr lang="ko-KR" altLang="en-US" sz="1400" dirty="0"/>
              <a:t>핵심 키워드 추출</a:t>
            </a:r>
            <a:r>
              <a:rPr lang="en-US" altLang="ko-KR" sz="1400" dirty="0"/>
              <a:t>, </a:t>
            </a:r>
            <a:r>
              <a:rPr lang="ko-KR" altLang="en-US" sz="1400" dirty="0"/>
              <a:t>챕터별 중요 질문 생성 등 </a:t>
            </a:r>
            <a:br>
              <a:rPr lang="en-US" altLang="ko-KR" sz="1400" dirty="0"/>
            </a:br>
            <a:r>
              <a:rPr lang="en-US" altLang="ko-KR" sz="1400" dirty="0"/>
              <a:t>		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기반 학습 보조 기능</a:t>
            </a:r>
            <a:r>
              <a:rPr lang="ko-KR" altLang="en-US" sz="1400" dirty="0"/>
              <a:t>을 유료 모델에 포함하여 경쟁력을 강화할 수 있습니다</a:t>
            </a:r>
            <a:r>
              <a:rPr lang="en-US" altLang="ko-KR" sz="1400" dirty="0"/>
              <a:t>.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1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931</Words>
  <Application>Microsoft Office PowerPoint</Application>
  <PresentationFormat>와이드스크린</PresentationFormat>
  <Paragraphs>52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StudySnap</vt:lpstr>
      <vt:lpstr>🎯 주요 수요 근거</vt:lpstr>
      <vt:lpstr>📈 시장 진입 전략</vt:lpstr>
      <vt:lpstr>📈 시장 진입 전략</vt:lpstr>
      <vt:lpstr>🛠️ 기술 개발 방향 (Specific Technical Development)</vt:lpstr>
      <vt:lpstr>🛠️ 기술 개발 방향 (Specific Technical Development)</vt:lpstr>
      <vt:lpstr>🛠️ 기술 개발 방향 (Specific Technical Development)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abu8w</dc:creator>
  <cp:lastModifiedBy>abu8w</cp:lastModifiedBy>
  <cp:revision>2</cp:revision>
  <dcterms:created xsi:type="dcterms:W3CDTF">2025-11-22T09:57:01Z</dcterms:created>
  <dcterms:modified xsi:type="dcterms:W3CDTF">2025-11-23T01:01:17Z</dcterms:modified>
</cp:coreProperties>
</file>